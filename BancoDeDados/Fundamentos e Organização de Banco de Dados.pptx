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b06cd3f8-2770-41a8-96ef-f5d702bed370.fntdata" /><ns0:Relationship Id="rIdFont21" Type="http://schemas.openxmlformats.org/officeDocument/2006/relationships/font" Target="fonts/eca47129-6c88-4f9e-9801-322881ee48d2.fntdata" /><ns0:Relationship Id="rIdFont22" Type="http://schemas.openxmlformats.org/officeDocument/2006/relationships/font" Target="fonts/5614e102-09ef-4d6e-a606-4523b68d157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63392"/>
            <a:ext cx="3810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85069"/>
            <a:ext cx="3524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MÓDULO 01 • GESTÃO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37494"/>
            <a:ext cx="8601075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Fundamentos &amp; Organização de Bancos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39455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Estruturação da informação, conceitos essenciais de SGBD e o impacto do contexto corporativo e ético na gestão de dados.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4691955"/>
            <a:ext cx="2643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Plano de Capacitação Técnica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5612"/>
            <a:ext cx="3505200" cy="1952625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95612"/>
            <a:ext cx="3505200" cy="1952625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95612"/>
            <a:ext cx="3505200" cy="1952625"/>
          </a:xfrm>
          <a:prstGeom prst="roundRect">
            <a:avLst>
              <a:gd name="adj" fmla="val 78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099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099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099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433762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837" y="3433762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433762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VISÃO GERAL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Estrutura do Módulo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195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1.1 Organização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2338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Coleta, tratamento, sistematização e formas de apresentação de dados.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9195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1.2 Banco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2338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Conceitos fundamentais, características e estruturas de armazenamento.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9195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1.3 Ética Corporativa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233862"/>
            <a:ext cx="29718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Diretrizes empresariais, qualidade e conduta profissional no uso de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86062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AE6FD"/>
                </a:solidFill>
                <a:latin typeface="Space Grotesk"/>
              </a:rPr>
              <a:t>TÓPICO 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100387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Space Grotesk"/>
              </a:rPr>
              <a:t>Organização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833812"/>
            <a:ext cx="7143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0F2FE"/>
                </a:solidFill>
                <a:latin typeface="Plus Jakarta Sans"/>
              </a:rPr>
              <a:t>Do dado bruto à informação útil para tomada de decisão.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24326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57537"/>
            <a:ext cx="2600325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4326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5753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324326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15753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243262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FLUXO DE TRATAMENTO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Etapas da Organização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46233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01. COLETA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709987"/>
            <a:ext cx="29128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Captura na Fonte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05262"/>
            <a:ext cx="2314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Aquisição de dados brutos via formulários, sensores e sistemas externos.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0925" y="3548062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02. ESTRUTURAÇÃO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795712"/>
            <a:ext cx="29128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Padronização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4090987"/>
            <a:ext cx="2314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Mapeamento e tipagem de campos em formatos uniformes.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462337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03. TRATAMENTO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3709987"/>
            <a:ext cx="29128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Higienização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4005262"/>
            <a:ext cx="23145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Remoção de duplicatas, correção de inconsistências e preenchimento de nulos.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75" y="3548062"/>
            <a:ext cx="27741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04. APRESENTAÇÃO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2575" y="3795712"/>
            <a:ext cx="29128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Visualização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575" y="4090987"/>
            <a:ext cx="23145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Consumo de dados através de relatórios, dashboards e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53340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86087"/>
            <a:ext cx="53340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86087"/>
            <a:ext cx="57150" cy="1857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986087"/>
            <a:ext cx="57150" cy="18573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APRESENTAÇÃO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Estruturados vs. Não-Estruturados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290887"/>
            <a:ext cx="612576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Dados Estruturados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290887"/>
            <a:ext cx="55816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Dados Não-Estruturados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709987"/>
            <a:ext cx="583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Tabelas Rígidas: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Linhas e colunas bem definidas.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024312"/>
            <a:ext cx="583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Tipagem Forte: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Números, datas e textos delimitados.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338637"/>
            <a:ext cx="583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Exemplos: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PostgreSQL, MySQL, planilhas 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3709987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Esquema Flexível: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Sem estrutura predefinida fixa.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4024312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Alta Variedade: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Arquivos de mídia, documentos e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4338637"/>
            <a:ext cx="5581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Exemplos: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 Documentos JSON, PDFs, feeds de redes sociais.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6670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AE6FD"/>
                </a:solidFill>
                <a:latin typeface="Space Grotesk"/>
              </a:rPr>
              <a:t>TÓPICO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81325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Space Grotesk"/>
              </a:rPr>
              <a:t>Banco de Dados &amp; SGBD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714750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0F2FE"/>
                </a:solidFill>
                <a:latin typeface="Plus Jakarta Sans"/>
              </a:rPr>
              <a:t>Conceitos fundamentais e arquitetura de armazenamento persistente.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CONCEITO 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Sistema de Gerenciamento de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187" y="3215729"/>
            <a:ext cx="10715625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2100" i="0" u="none">
                <a:solidFill>
                  <a:srgbClr val="0284C7"/>
                </a:solidFill>
                <a:latin typeface="Plus Jakarta Sans"/>
              </a:rPr>
              <a:t>"Um SGBD é o software que gerencia o acesso, a segurança, a integridade e a persistência dos dados."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4061370"/>
            <a:ext cx="83343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Ele isola as aplicações do armazenamento físico de dados, garantindo controle concorrente e recuperação de falhas.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ATRIBUTOS ESSENCIAIS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Características Principais de um 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861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Integridade dos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Garantia de regras e restrições sem corrupção.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861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Controle de Acesso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Autenticação rígida e autorização por papéis.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86162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Independência Física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Mudanças no hardware não afetam as aplicações.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53644" y="3590925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37760" y="3590925"/>
            <a:ext cx="19050" cy="76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ARQUITETURA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Estruturas de Armazenamento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848" y="3438525"/>
            <a:ext cx="2476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Plus Jakarta Sans"/>
              </a:rPr>
              <a:t>Memória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848" y="4095750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CACHE /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848" y="4333875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Acesso ultra-rápido temporário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1992" y="3438525"/>
            <a:ext cx="222646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Plus Jakarta Sans"/>
              </a:rPr>
              <a:t>Blocos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992" y="4095750"/>
            <a:ext cx="222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PÁGINAS DE DISCO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992" y="4333875"/>
            <a:ext cx="2226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Unidade fundamental de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3487" y="3438525"/>
            <a:ext cx="24526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284C7"/>
                </a:solidFill>
                <a:latin typeface="Plus Jakarta Sans"/>
              </a:rPr>
              <a:t>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3487" y="4095750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WAL / REDO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3487" y="4333875"/>
            <a:ext cx="245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Garantia de durabilidade (ACID)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6670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AE6FD"/>
                </a:solidFill>
                <a:latin typeface="Space Grotesk"/>
              </a:rPr>
              <a:t>TÓPICO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981325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FFFFF"/>
                </a:solidFill>
                <a:latin typeface="Space Grotesk"/>
              </a:rPr>
              <a:t>Contexto Corporativo &amp; 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714750"/>
            <a:ext cx="5810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0F2FE"/>
                </a:solidFill>
                <a:latin typeface="Plus Jakarta Sans"/>
              </a:rPr>
              <a:t>Governança, conformidade e responsabilidade profissional no manuseio de dados.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ALINHAMENTO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Diretrizes Empresariais e Gestão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861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Dados orientados ao propósito central da organização.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86162"/>
            <a:ext cx="39004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Escalabilidade e inovação contínua da arquitetura.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86162"/>
            <a:ext cx="3848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Política da 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81437"/>
            <a:ext cx="30670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Acurácia, disponibilidade e conformidade regulatória.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90887"/>
            <a:ext cx="190500" cy="200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00462"/>
            <a:ext cx="23812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10037"/>
            <a:ext cx="238125" cy="200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RESPONSABILIDADE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Ética no Tratamento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281362"/>
            <a:ext cx="112395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Privacidade e LGPD: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Respeito aos direitos dos titulares e proteção contra vazamentos.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690937"/>
            <a:ext cx="111918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Segredo Profissional: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Confidencialidade absoluta sobre informações sensíveis.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100512"/>
            <a:ext cx="111918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Uso Imparcial: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Veto ao uso de dados para discriminação ou práticas abusivas.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10250" y="420528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58007" y="2614612"/>
            <a:ext cx="7875984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Próximo Passo: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348037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No Módulo 02 veremos a transformação desses conceitos nos modelos Conceitual, Lógico e Físico.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