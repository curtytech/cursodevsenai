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Arimo"/>
      <p:regular r:id="rId201314"/>
    </p:embeddedFont>
    <p:embeddedFont>
      <p:font typeface="Arimo Bold"/>
      <p:regular r:id="rId201315"/>
    </p:embeddedFont>
    <p:embeddedFont>
      <p:font typeface="Outfit"/>
      <p:regular r:id="rId201316"/>
    </p:embeddedFont>
    <p:embeddedFont>
      <p:font typeface="Outfit Bold"/>
      <p:regular r:id="rId201317"/>
    </p:embeddedFont>
    <p:embeddedFont>
      <p:font typeface="Outfit ExtraBold"/>
      <p:regular r:id="rId201318"/>
    </p:embeddedFont>
    <p:embeddedFont>
      <p:font typeface="Outfit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4.png"/><Relationship Id="rId7" Type="http://schemas.openxmlformats.org/officeDocument/2006/relationships/image" Target="../media/image-2-5.svg"/><Relationship Id="rId8" Type="http://schemas.openxmlformats.org/officeDocument/2006/relationships/image" Target="../media/image-2-4.png"/><Relationship Id="rId9" Type="http://schemas.openxmlformats.org/officeDocument/2006/relationships/image" Target="../media/image-2-5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Lógica de Programação para Iniciantes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0075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Aprenda a pensar como um programador — do zero ao primeiro código.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97768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 que é Lógica de Programação?</a:t>
            </a:r>
            <a:endParaRPr lang="en-US" sz="2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148060"/>
            <a:ext cx="4722763" cy="90755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1530" y="1286321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Definição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91530" y="1545282"/>
            <a:ext cx="4389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forma de pensar e resolver problemas usando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instruções ordenadas e lógicas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164110"/>
            <a:ext cx="4722763" cy="72151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1530" y="2302371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Objetivo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91530" y="2561332"/>
            <a:ext cx="438909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Ensinar o computador a realizar tarefas através de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passos bem definidos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994124"/>
            <a:ext cx="4722763" cy="72151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1530" y="3132386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Analogia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91530" y="3391346"/>
            <a:ext cx="438909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Como uma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receita de bolo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cada passo deve ser seguido na ordem correta.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824139"/>
            <a:ext cx="4722763" cy="72151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91530" y="3962400"/>
            <a:ext cx="4389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Não é sobre linguagem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91530" y="4221361"/>
            <a:ext cx="438909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É sobre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como pensar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 estruturar a solução, independente da tecnologia.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7583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Conceitos Fundamentais: Variáveis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14463"/>
            <a:ext cx="5185172" cy="2916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0201" y="1154311"/>
            <a:ext cx="264236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 que é uma variável?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10201" y="1486570"/>
            <a:ext cx="2642369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Um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espaço na memória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que armazena um valor — como uma caixa com rótulo onde você guarda informações.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10201" y="2229073"/>
            <a:ext cx="264236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Exemplo em JavaScript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10201" y="2576885"/>
            <a:ext cx="2642369" cy="903610"/>
          </a:xfrm>
          <a:prstGeom prst="roundRect">
            <a:avLst>
              <a:gd name="adj" fmla="val 6178"/>
            </a:avLst>
          </a:prstGeom>
          <a:solidFill>
            <a:srgbClr val="EDEDED"/>
          </a:solidFill>
          <a:ln/>
        </p:spPr>
      </p:sp>
      <p:sp>
        <p:nvSpPr>
          <p:cNvPr id="8" name="Text 5"/>
          <p:cNvSpPr/>
          <p:nvPr/>
        </p:nvSpPr>
        <p:spPr>
          <a:xfrm>
            <a:off x="6169670" y="2709788"/>
            <a:ext cx="2323430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nome = "João";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idade = 25;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ativo = true;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10201" y="3620616"/>
            <a:ext cx="264236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Tipos básicos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10201" y="3952875"/>
            <a:ext cx="2642369" cy="719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String</a:t>
            </a:r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texto: </a:t>
            </a:r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"João"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Number</a:t>
            </a:r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números: </a:t>
            </a:r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Boolean</a:t>
            </a:r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verdadeiro/falso: </a:t>
            </a:r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165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Operadores: Fazendo Contas e Comparações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58156"/>
            <a:ext cx="2622724" cy="1369814"/>
          </a:xfrm>
          <a:prstGeom prst="roundRect">
            <a:avLst>
              <a:gd name="adj" fmla="val 434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704677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Aritméticos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011189"/>
            <a:ext cx="2329681" cy="77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Soma, subtração, multiplicação e divisão.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558156"/>
            <a:ext cx="2622724" cy="1369814"/>
          </a:xfrm>
          <a:prstGeom prst="roundRect">
            <a:avLst>
              <a:gd name="adj" fmla="val 434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7122" y="1704677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Comparação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7122" y="2011189"/>
            <a:ext cx="2329681" cy="543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Igualdade, diferença, maior e menor.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558156"/>
            <a:ext cx="2622724" cy="1369814"/>
          </a:xfrm>
          <a:prstGeom prst="roundRect">
            <a:avLst>
              <a:gd name="adj" fmla="val 434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1605" y="1704677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Lógicos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1605" y="2011189"/>
            <a:ext cx="2329681" cy="77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||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AND, OR e NOT para combinar condições.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140571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Exemplo prático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96119" y="3574628"/>
            <a:ext cx="8151763" cy="737146"/>
          </a:xfrm>
          <a:prstGeom prst="roundRect">
            <a:avLst>
              <a:gd name="adj" fmla="val 8077"/>
            </a:avLst>
          </a:prstGeom>
          <a:solidFill>
            <a:srgbClr val="EDEDED"/>
          </a:solidFill>
          <a:ln/>
        </p:spPr>
      </p:sp>
      <p:sp>
        <p:nvSpPr>
          <p:cNvPr id="14" name="Text 12"/>
          <p:cNvSpPr/>
          <p:nvPr/>
        </p:nvSpPr>
        <p:spPr>
          <a:xfrm>
            <a:off x="666229" y="3716387"/>
            <a:ext cx="781154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resultado = 10 + 5; // resultado = 15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maiorDeIdade = idade &gt;= 18; // true ou false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343"/>
            <a:ext cx="8151763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Estruturas de Controle: Tomando Decisões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96119" y="1712491"/>
            <a:ext cx="2716113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IF / ELSE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900014"/>
            <a:ext cx="2716113" cy="380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"Se isso acontecer, faça aquilo; senão, faça outra coisa."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As estruturas de controle permitem que o programa tome </a:t>
            </a:r>
            <a:pPr algn="l" indent="0" marL="0">
              <a:lnSpc>
                <a:spcPct val="107000"/>
              </a:lnSpc>
              <a:buNone/>
            </a:pPr>
            <a:r>
              <a:rPr lang="en-US" sz="6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decisões dinâmicas</a:t>
            </a:r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com base em condições.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96119" y="2333476"/>
            <a:ext cx="2716113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Usos no mundo real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96119" y="2521000"/>
            <a:ext cx="2716113" cy="37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Validar dados de formulários</a:t>
            </a:r>
            <a:endParaRPr lang="en-US" sz="650" dirty="0"/>
          </a:p>
          <a:p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Autorizar ou bloquear ações</a:t>
            </a:r>
            <a:endParaRPr lang="en-US" sz="650" dirty="0"/>
          </a:p>
          <a:p>
            <a:pPr algn="l" marL="132080" indent="-132080">
              <a:lnSpc>
                <a:spcPct val="107000"/>
              </a:lnSpc>
              <a:buSzPct val="100000"/>
              <a:buChar char="•"/>
            </a:pPr>
            <a:r>
              <a:rPr lang="en-US" sz="6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Mudar o comportamento do programa</a:t>
            </a:r>
            <a:endParaRPr lang="en-US" sz="6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7735" y="815355"/>
            <a:ext cx="5224835" cy="293890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96119" y="3872582"/>
            <a:ext cx="8151763" cy="863575"/>
          </a:xfrm>
          <a:prstGeom prst="roundRect">
            <a:avLst>
              <a:gd name="adj" fmla="val 4202"/>
            </a:avLst>
          </a:prstGeom>
          <a:solidFill>
            <a:srgbClr val="EDEDED"/>
          </a:solidFill>
          <a:ln/>
        </p:spPr>
      </p:sp>
      <p:sp>
        <p:nvSpPr>
          <p:cNvPr id="9" name="Text 6"/>
          <p:cNvSpPr/>
          <p:nvPr/>
        </p:nvSpPr>
        <p:spPr>
          <a:xfrm>
            <a:off x="599777" y="3958903"/>
            <a:ext cx="7944445" cy="690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(idade &gt;= 18) 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console.log("Maior de idade");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console.log("Menor de idade");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3378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Loops: Repetindo Ações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289372"/>
            <a:ext cx="4722763" cy="2096839"/>
          </a:xfrm>
          <a:prstGeom prst="roundRect">
            <a:avLst>
              <a:gd name="adj" fmla="val 2840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0881" y="1294135"/>
            <a:ext cx="4713238" cy="1043657"/>
          </a:xfrm>
          <a:custGeom>
            <a:avLst/>
            <a:gdLst/>
            <a:ahLst/>
            <a:cxnLst/>
            <a:rect l="l" t="t" r="r" b="b"/>
            <a:pathLst>
              <a:path w="4713238" h="1043657">
                <a:moveTo>
                  <a:pt x="49619" y="0"/>
                </a:moveTo>
                <a:lnTo>
                  <a:pt x="4663619" y="0"/>
                </a:lnTo>
                <a:arcTo hR="49619" wR="49619" stAng="16200000" swAng="5400000"/>
                <a:lnTo>
                  <a:pt x="4713238" y="1043657"/>
                </a:lnTo>
                <a:lnTo>
                  <a:pt x="0" y="1043657"/>
                </a:lnTo>
                <a:lnTo>
                  <a:pt x="0" y="49619"/>
                </a:lnTo>
                <a:arcTo hR="49619" wR="49619" stAng="10800000" swAng="5400000"/>
                <a:close/>
              </a:path>
            </a:pathLst>
          </a:custGeom>
          <a:solidFill>
            <a:srgbClr val="E9E6FA"/>
          </a:solidFill>
          <a:ln/>
        </p:spPr>
      </p:sp>
      <p:sp>
        <p:nvSpPr>
          <p:cNvPr id="6" name="Text 3"/>
          <p:cNvSpPr/>
          <p:nvPr/>
        </p:nvSpPr>
        <p:spPr>
          <a:xfrm>
            <a:off x="642640" y="1435894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FOR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1742405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Repete um bloco de código um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número específico de vezes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Ideal quando você sabe exatamente quantas repetições quer.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0881" y="2337792"/>
            <a:ext cx="4713238" cy="1043657"/>
          </a:xfrm>
          <a:custGeom>
            <a:avLst/>
            <a:gdLst/>
            <a:ahLst/>
            <a:cxnLst/>
            <a:rect l="l" t="t" r="r" b="b"/>
            <a:pathLst>
              <a:path w="4713238" h="1043657">
                <a:moveTo>
                  <a:pt x="0" y="0"/>
                </a:moveTo>
                <a:lnTo>
                  <a:pt x="4713238" y="0"/>
                </a:lnTo>
                <a:lnTo>
                  <a:pt x="4713238" y="994039"/>
                </a:lnTo>
                <a:arcTo hR="49619" wR="49619" stAng="0" swAng="5400000"/>
                <a:lnTo>
                  <a:pt x="49619" y="1043657"/>
                </a:lnTo>
                <a:arcTo hR="49619" wR="49619" stAng="5400000" swAng="5400000"/>
                <a:lnTo>
                  <a:pt x="0" y="0"/>
                </a:lnTo>
                <a:close/>
              </a:path>
            </a:pathLst>
          </a:custGeom>
          <a:solidFill>
            <a:srgbClr val="E9E6FA"/>
          </a:solidFill>
          <a:ln/>
        </p:spPr>
      </p:sp>
      <p:sp>
        <p:nvSpPr>
          <p:cNvPr id="9" name="Shape 6"/>
          <p:cNvSpPr/>
          <p:nvPr/>
        </p:nvSpPr>
        <p:spPr>
          <a:xfrm>
            <a:off x="500881" y="2337792"/>
            <a:ext cx="4713238" cy="19050"/>
          </a:xfrm>
          <a:prstGeom prst="roundRect">
            <a:avLst>
              <a:gd name="adj" fmla="val 50000"/>
            </a:avLst>
          </a:prstGeom>
          <a:solidFill>
            <a:srgbClr val="BDB8DF"/>
          </a:solidFill>
          <a:ln/>
        </p:spPr>
      </p:sp>
      <p:sp>
        <p:nvSpPr>
          <p:cNvPr id="10" name="Text 7"/>
          <p:cNvSpPr/>
          <p:nvPr/>
        </p:nvSpPr>
        <p:spPr>
          <a:xfrm>
            <a:off x="642640" y="2479551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WHILE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2640" y="2786063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Repete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enquanto uma condição for verdadeira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Ideal quando o número de repetições depende de um estado.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6119" y="3545681"/>
            <a:ext cx="4722763" cy="963960"/>
          </a:xfrm>
          <a:prstGeom prst="roundRect">
            <a:avLst>
              <a:gd name="adj" fmla="val 6177"/>
            </a:avLst>
          </a:prstGeom>
          <a:solidFill>
            <a:srgbClr val="EDEDED"/>
          </a:solidFill>
          <a:ln/>
        </p:spPr>
      </p:sp>
      <p:sp>
        <p:nvSpPr>
          <p:cNvPr id="13" name="Text 10"/>
          <p:cNvSpPr/>
          <p:nvPr/>
        </p:nvSpPr>
        <p:spPr>
          <a:xfrm>
            <a:off x="666229" y="3687440"/>
            <a:ext cx="438254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1; i &lt;= 5; i++) {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console.log(i); // Imprime 1, 2, 3, 4, 5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Funções: Reutilizando Código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1895996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 que é uma função?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047875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Um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bloco de código reutilizável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que realiza uma tarefa específica — evita repetição e deixa o código organizado.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496119" y="2174081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Componentes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96119" y="2325960"/>
            <a:ext cx="3986733" cy="3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Nome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identifica a função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Parâmetros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dados de entrada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Corpo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a lógica executada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Retorno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o resultado de saída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496119" y="2757339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Exemplo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96119" y="2913906"/>
            <a:ext cx="3986733" cy="613767"/>
          </a:xfrm>
          <a:prstGeom prst="roundRect">
            <a:avLst>
              <a:gd name="adj" fmla="val 5002"/>
            </a:avLst>
          </a:prstGeom>
          <a:solidFill>
            <a:srgbClr val="EDEDED"/>
          </a:solidFill>
          <a:ln/>
        </p:spPr>
      </p:sp>
      <p:sp>
        <p:nvSpPr>
          <p:cNvPr id="9" name="Text 7"/>
          <p:cNvSpPr/>
          <p:nvPr/>
        </p:nvSpPr>
        <p:spPr>
          <a:xfrm>
            <a:off x="583778" y="2986980"/>
            <a:ext cx="3811414" cy="467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saudacao(nome) {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"Olá, " + nome + "!";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5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saudacao("Maria"); // "Olá, Maria!"</a:t>
            </a:r>
            <a:endParaRPr lang="en-US" sz="5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894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Resolvendo Problemas: Passo a Passo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1175445"/>
            <a:ext cx="6339185" cy="2901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6361" y="3387743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Testar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56456" y="3387743"/>
            <a:ext cx="11901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Escrever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64702" y="3387743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Quebrar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40341" y="3387743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Entender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236169"/>
            <a:ext cx="8151763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Exemplo prático: criar um programa que calcula se um número é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par ou ímpar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entenda a regra (resto da divisão), quebre o problema, escreva o 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if/else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 teste com vários números.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0978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Próximos Passos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36291"/>
            <a:ext cx="1143595" cy="7067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52025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Pratique Diariamente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826767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Escreva pequenos programas todos os dias — calculadoras, validadores, contadores.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636291"/>
            <a:ext cx="1143595" cy="7067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52025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Explore Novos Conceitos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82676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Aprenda sobre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arrays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(listas) 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objetos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os próximos blocos fundamentais.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636291"/>
            <a:ext cx="1143595" cy="7067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520255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Construa e Conecte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826767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Crie projetos reais (jogo da adivinhação, lista de tarefas) e participe de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comunidades de iniciantes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96119" y="3666679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D7D2F9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3867448"/>
            <a:ext cx="177180" cy="1417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6816" y="3843858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consistência é mais importante do que a velocidade. Programe um pouco todo dia e os resultados virão naturalmente.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2026-08-10T18:09:04Z</dcterms:created>
  <dcterms:modified xsi:type="dcterms:W3CDTF">2026-08-10T18:09:04Z</dcterms:modified>
</cp:coreProperties>
</file>