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SemiBold"/>
      <p:regular r:id="rId201315"/>
    </p:embeddedFont>
    <p:embeddedFont>
      <p:font typeface="Cabin Bold"/>
      <p:regular r:id="rId201316"/>
    </p:embeddedFont>
    <p:embeddedFont>
      <p:font typeface="Unbounded"/>
      <p:regular r:id="rId201317"/>
    </p:embeddedFont>
    <p:embeddedFont>
      <p:font typeface="Unbounded Bold"/>
      <p:regular r:id="rId201318"/>
    </p:embeddedFont>
    <p:embeddedFont>
      <p:font typeface="Unbounded Black"/>
      <p:regular r:id="rId201319"/>
    </p:embeddedFont>
    <p:embeddedFont>
      <p:font typeface="Unbounded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239764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Fundamentos de Programação: Do Conceito à Prática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4298950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Um guia prático para iniciantes — da lógica ao código, passo a passo.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13966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Que é um Algoritmo?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2086471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781626" y="2134791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46266" y="2155031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Sequência lógica de passos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46266" y="2567980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Um algoritmo é uma série ordenada de instruções para resolver um problema específico.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8086" y="3605312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781626" y="3653631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46266" y="3673872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Analogia do dia a dia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46266" y="4086820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Uma receita de bolo é um algoritmo culinário — ingredientes, ordem e método definem o resultado.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98086" y="5124152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781626" y="5172472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346266" y="5192713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Base de toda programação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46266" y="5605661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Antes de escrever código, você precisa de um plano. O algoritmo é esse plano.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9302"/>
            <a:ext cx="10795524" cy="971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Pseudocódigo: Planejando Antes de Programar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909266"/>
            <a:ext cx="5196254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 pseudocódigo usa uma linguagem próxima do português — sem regras rígidas de sintaxe — para organizar a lógica antes de escolher uma linguagem de programação.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03706" y="1922959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Exemplo: Verificar maioridade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3706" y="2319734"/>
            <a:ext cx="5196254" cy="2444750"/>
          </a:xfrm>
          <a:prstGeom prst="roundRect">
            <a:avLst>
              <a:gd name="adj" fmla="val 1014"/>
            </a:avLst>
          </a:prstGeom>
          <a:solidFill>
            <a:srgbClr val="1E3543"/>
          </a:solidFill>
          <a:ln/>
        </p:spPr>
      </p:sp>
      <p:sp>
        <p:nvSpPr>
          <p:cNvPr id="6" name="Text 4"/>
          <p:cNvSpPr/>
          <p:nvPr/>
        </p:nvSpPr>
        <p:spPr>
          <a:xfrm>
            <a:off x="6501840" y="2484834"/>
            <a:ext cx="4799984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INÍCIO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LEIA idade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 idade &gt;= 18 ENTÃO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ESCREVA "Maior de idade"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SENÃO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ESCREVA "Menor de idade"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FIM SE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FIM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5072261"/>
            <a:ext cx="5329402" cy="1176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8429" y="5256411"/>
            <a:ext cx="488491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Estruturado, mas flexível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58429" y="5581352"/>
            <a:ext cx="4884913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Escreva em português estruturado, sem se preocupar com compiladores.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4208" y="5072261"/>
            <a:ext cx="5329402" cy="11764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24551" y="5256411"/>
            <a:ext cx="488491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Linguagem-agnóstico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24551" y="5581352"/>
            <a:ext cx="488491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Funciona para Python, Java, C — qualquer linguagem vem depois.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6539"/>
            <a:ext cx="10795524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Tipos de Dados: O Que Seu Programa Pode Armazenar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8086" y="1898452"/>
            <a:ext cx="5321365" cy="1903413"/>
          </a:xfrm>
          <a:prstGeom prst="roundRect">
            <a:avLst>
              <a:gd name="adj" fmla="val 1376"/>
            </a:avLst>
          </a:prstGeom>
          <a:solidFill>
            <a:srgbClr val="304755"/>
          </a:solidFill>
          <a:ln/>
        </p:spPr>
      </p:sp>
      <p:sp>
        <p:nvSpPr>
          <p:cNvPr id="4" name="Shape 2"/>
          <p:cNvSpPr/>
          <p:nvPr/>
        </p:nvSpPr>
        <p:spPr>
          <a:xfrm>
            <a:off x="872607" y="2072977"/>
            <a:ext cx="523564" cy="523577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570" y="2216944"/>
            <a:ext cx="235539" cy="2355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2607" y="2749252"/>
            <a:ext cx="497232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Inteiro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2607" y="3097510"/>
            <a:ext cx="4972322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Números sem decimais.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10, -5, 100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145" y="1898452"/>
            <a:ext cx="5321465" cy="1903413"/>
          </a:xfrm>
          <a:prstGeom prst="roundRect">
            <a:avLst>
              <a:gd name="adj" fmla="val 1376"/>
            </a:avLst>
          </a:prstGeom>
          <a:solidFill>
            <a:srgbClr val="304755"/>
          </a:solidFill>
          <a:ln/>
        </p:spPr>
      </p:sp>
      <p:sp>
        <p:nvSpPr>
          <p:cNvPr id="9" name="Shape 6"/>
          <p:cNvSpPr/>
          <p:nvPr/>
        </p:nvSpPr>
        <p:spPr>
          <a:xfrm>
            <a:off x="6346666" y="2072977"/>
            <a:ext cx="523564" cy="523577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629" y="2216944"/>
            <a:ext cx="235539" cy="2355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46666" y="2749252"/>
            <a:ext cx="497242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46666" y="3097510"/>
            <a:ext cx="4972422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Números com decimais.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3.14, 10.5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98086" y="3954562"/>
            <a:ext cx="5321365" cy="1903413"/>
          </a:xfrm>
          <a:prstGeom prst="roundRect">
            <a:avLst>
              <a:gd name="adj" fmla="val 1376"/>
            </a:avLst>
          </a:prstGeom>
          <a:solidFill>
            <a:srgbClr val="304755"/>
          </a:solidFill>
          <a:ln/>
        </p:spPr>
      </p:sp>
      <p:sp>
        <p:nvSpPr>
          <p:cNvPr id="14" name="Shape 10"/>
          <p:cNvSpPr/>
          <p:nvPr/>
        </p:nvSpPr>
        <p:spPr>
          <a:xfrm>
            <a:off x="872607" y="4129088"/>
            <a:ext cx="523564" cy="523577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570" y="4273054"/>
            <a:ext cx="235539" cy="2355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2607" y="4805363"/>
            <a:ext cx="497232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String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72607" y="5153620"/>
            <a:ext cx="4972322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Sequências de texto.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"Olá, mundo!"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172145" y="3954562"/>
            <a:ext cx="5321465" cy="1903413"/>
          </a:xfrm>
          <a:prstGeom prst="roundRect">
            <a:avLst>
              <a:gd name="adj" fmla="val 1376"/>
            </a:avLst>
          </a:prstGeom>
          <a:solidFill>
            <a:srgbClr val="304755"/>
          </a:solidFill>
          <a:ln/>
        </p:spPr>
      </p:sp>
      <p:sp>
        <p:nvSpPr>
          <p:cNvPr id="19" name="Shape 14"/>
          <p:cNvSpPr/>
          <p:nvPr/>
        </p:nvSpPr>
        <p:spPr>
          <a:xfrm>
            <a:off x="6346666" y="4129088"/>
            <a:ext cx="523564" cy="523577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0629" y="4273054"/>
            <a:ext cx="235539" cy="23554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46666" y="4805363"/>
            <a:ext cx="497242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Booleano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346666" y="5153620"/>
            <a:ext cx="4972422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Apenas dois valores.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verdadeiro / falso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393293" y="6029722"/>
            <a:ext cx="11405108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Escolher o tipo de dado correto é o primeiro passo para um programa eficiente e sem erros.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2775"/>
            <a:ext cx="10795524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Variáveis vs. Constantes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389" y="1263551"/>
            <a:ext cx="4875388" cy="48755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8988" y="1602978"/>
            <a:ext cx="3560971" cy="1803698"/>
          </a:xfrm>
          <a:prstGeom prst="roundRect">
            <a:avLst>
              <a:gd name="adj" fmla="val 1141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95155" y="1759148"/>
            <a:ext cx="324863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Variáveis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095155" y="2061369"/>
            <a:ext cx="3248638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Armazenam valores que </a:t>
            </a:r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podem mudar</a:t>
            </a:r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ao longo do programa.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95155" y="2537520"/>
            <a:ext cx="3248638" cy="712986"/>
          </a:xfrm>
          <a:prstGeom prst="roundRect">
            <a:avLst>
              <a:gd name="adj" fmla="val 2885"/>
            </a:avLst>
          </a:prstGeom>
          <a:solidFill>
            <a:srgbClr val="1E3543"/>
          </a:solidFill>
          <a:ln/>
        </p:spPr>
      </p:sp>
      <p:sp>
        <p:nvSpPr>
          <p:cNvPr id="8" name="Text 5"/>
          <p:cNvSpPr/>
          <p:nvPr/>
        </p:nvSpPr>
        <p:spPr>
          <a:xfrm>
            <a:off x="8259655" y="2674640"/>
            <a:ext cx="2919637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← 20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← 21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38988" y="3500934"/>
            <a:ext cx="3560971" cy="1399282"/>
          </a:xfrm>
          <a:prstGeom prst="roundRect">
            <a:avLst>
              <a:gd name="adj" fmla="val 1470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5155" y="3657104"/>
            <a:ext cx="3248638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Constantes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95155" y="3959324"/>
            <a:ext cx="3248638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Valores </a:t>
            </a:r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fixos</a:t>
            </a:r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que nunca se alteram durante a execução.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95155" y="4250432"/>
            <a:ext cx="3248638" cy="493613"/>
          </a:xfrm>
          <a:prstGeom prst="roundRect">
            <a:avLst>
              <a:gd name="adj" fmla="val 4167"/>
            </a:avLst>
          </a:prstGeom>
          <a:solidFill>
            <a:srgbClr val="1E3543"/>
          </a:solidFill>
          <a:ln/>
        </p:spPr>
      </p:sp>
      <p:sp>
        <p:nvSpPr>
          <p:cNvPr id="13" name="Text 10"/>
          <p:cNvSpPr/>
          <p:nvPr/>
        </p:nvSpPr>
        <p:spPr>
          <a:xfrm>
            <a:off x="8259655" y="4387552"/>
            <a:ext cx="29196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← 3.14159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38988" y="5006280"/>
            <a:ext cx="3560971" cy="793254"/>
          </a:xfrm>
          <a:prstGeom prst="roundRect">
            <a:avLst>
              <a:gd name="adj" fmla="val 2593"/>
            </a:avLst>
          </a:prstGeom>
          <a:solidFill>
            <a:srgbClr val="08786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105" y="5154414"/>
            <a:ext cx="171346" cy="1371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84568" y="5125343"/>
            <a:ext cx="2978274" cy="555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constantes para taxas, limites e valores matemáticos — isso evita erros e facilita manutenção.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8545"/>
            <a:ext cx="10795524" cy="109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Expressões Aritméticas: Fazendo Contas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98086" y="2029123"/>
            <a:ext cx="10795524" cy="2087761"/>
          </a:xfrm>
          <a:prstGeom prst="roundRect">
            <a:avLst>
              <a:gd name="adj" fmla="val 1344"/>
            </a:avLst>
          </a:prstGeom>
          <a:solidFill>
            <a:srgbClr val="304755"/>
          </a:solidFill>
          <a:ln/>
        </p:spPr>
      </p:sp>
      <p:sp>
        <p:nvSpPr>
          <p:cNvPr id="4" name="Shape 2"/>
          <p:cNvSpPr/>
          <p:nvPr/>
        </p:nvSpPr>
        <p:spPr>
          <a:xfrm>
            <a:off x="698086" y="2029123"/>
            <a:ext cx="3598475" cy="1043880"/>
          </a:xfrm>
          <a:custGeom>
            <a:avLst/>
            <a:gdLst/>
            <a:ahLst/>
            <a:cxnLst/>
            <a:rect l="l" t="t" r="r" b="b"/>
            <a:pathLst>
              <a:path w="3598475" h="1043880">
                <a:moveTo>
                  <a:pt x="23376" y="0"/>
                </a:moveTo>
                <a:lnTo>
                  <a:pt x="3598475" y="0"/>
                </a:lnTo>
                <a:lnTo>
                  <a:pt x="3598475" y="1043880"/>
                </a:lnTo>
                <a:lnTo>
                  <a:pt x="0" y="1043880"/>
                </a:lnTo>
                <a:lnTo>
                  <a:pt x="0" y="23377"/>
                </a:lnTo>
                <a:arcTo hR="23377" wR="23376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5" name="Text 3"/>
          <p:cNvSpPr/>
          <p:nvPr/>
        </p:nvSpPr>
        <p:spPr>
          <a:xfrm>
            <a:off x="885009" y="2216051"/>
            <a:ext cx="32246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5009" y="2596257"/>
            <a:ext cx="3224628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Soma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96560" y="2029123"/>
            <a:ext cx="3598475" cy="1043880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8" name="Shape 6"/>
          <p:cNvSpPr/>
          <p:nvPr/>
        </p:nvSpPr>
        <p:spPr>
          <a:xfrm>
            <a:off x="4296560" y="2029123"/>
            <a:ext cx="25399" cy="1043880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9" name="Text 7"/>
          <p:cNvSpPr/>
          <p:nvPr/>
        </p:nvSpPr>
        <p:spPr>
          <a:xfrm>
            <a:off x="4483484" y="2216051"/>
            <a:ext cx="32246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−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83484" y="2596257"/>
            <a:ext cx="3224628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Subtração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95035" y="2029123"/>
            <a:ext cx="3598475" cy="1043880"/>
          </a:xfrm>
          <a:custGeom>
            <a:avLst/>
            <a:gdLst/>
            <a:ahLst/>
            <a:cxnLst/>
            <a:rect l="l" t="t" r="r" b="b"/>
            <a:pathLst>
              <a:path w="3598475" h="1043880">
                <a:moveTo>
                  <a:pt x="0" y="0"/>
                </a:moveTo>
                <a:lnTo>
                  <a:pt x="3575098" y="0"/>
                </a:lnTo>
                <a:arcTo hR="23377" wR="23376" stAng="16200000" swAng="5400000"/>
                <a:lnTo>
                  <a:pt x="3598475" y="1043880"/>
                </a:lnTo>
                <a:lnTo>
                  <a:pt x="0" y="1043880"/>
                </a:lnTo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2" name="Shape 10"/>
          <p:cNvSpPr/>
          <p:nvPr/>
        </p:nvSpPr>
        <p:spPr>
          <a:xfrm>
            <a:off x="7895035" y="2029123"/>
            <a:ext cx="25399" cy="1043880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13" name="Text 11"/>
          <p:cNvSpPr/>
          <p:nvPr/>
        </p:nvSpPr>
        <p:spPr>
          <a:xfrm>
            <a:off x="8081959" y="2216051"/>
            <a:ext cx="32246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*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81959" y="2596257"/>
            <a:ext cx="3224628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Multiplicação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98086" y="3073003"/>
            <a:ext cx="5397663" cy="1043880"/>
          </a:xfrm>
          <a:custGeom>
            <a:avLst/>
            <a:gdLst/>
            <a:ahLst/>
            <a:cxnLst/>
            <a:rect l="l" t="t" r="r" b="b"/>
            <a:pathLst>
              <a:path w="5397663" h="1043880">
                <a:moveTo>
                  <a:pt x="0" y="0"/>
                </a:moveTo>
                <a:lnTo>
                  <a:pt x="5397663" y="0"/>
                </a:lnTo>
                <a:lnTo>
                  <a:pt x="5397663" y="1043880"/>
                </a:lnTo>
                <a:lnTo>
                  <a:pt x="23376" y="1043880"/>
                </a:lnTo>
                <a:arcTo hR="23377" wR="23376" stAng="5400000" swAng="5400000"/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6" name="Shape 14"/>
          <p:cNvSpPr/>
          <p:nvPr/>
        </p:nvSpPr>
        <p:spPr>
          <a:xfrm>
            <a:off x="698086" y="3073003"/>
            <a:ext cx="5397663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85009" y="3259931"/>
            <a:ext cx="502381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/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5009" y="3640137"/>
            <a:ext cx="5023816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Divisão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748" y="3073003"/>
            <a:ext cx="5397762" cy="1043880"/>
          </a:xfrm>
          <a:custGeom>
            <a:avLst/>
            <a:gdLst/>
            <a:ahLst/>
            <a:cxnLst/>
            <a:rect l="l" t="t" r="r" b="b"/>
            <a:pathLst>
              <a:path w="5397762" h="1043880">
                <a:moveTo>
                  <a:pt x="0" y="0"/>
                </a:moveTo>
                <a:lnTo>
                  <a:pt x="5397762" y="0"/>
                </a:lnTo>
                <a:lnTo>
                  <a:pt x="5397762" y="1020503"/>
                </a:lnTo>
                <a:arcTo hR="23377" wR="23376" stAng="0" swAng="5400000"/>
                <a:lnTo>
                  <a:pt x="0" y="1043880"/>
                </a:lnTo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748" y="3073003"/>
            <a:ext cx="25399" cy="1043880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748" y="3073003"/>
            <a:ext cx="5397762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22" name="Text 20"/>
          <p:cNvSpPr/>
          <p:nvPr/>
        </p:nvSpPr>
        <p:spPr>
          <a:xfrm>
            <a:off x="6282672" y="3259931"/>
            <a:ext cx="502391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82672" y="3640137"/>
            <a:ext cx="5023915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Resto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8086" y="4489351"/>
            <a:ext cx="51696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Exemplo prático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98086" y="4961533"/>
            <a:ext cx="5169664" cy="673100"/>
          </a:xfrm>
          <a:prstGeom prst="roundRect">
            <a:avLst>
              <a:gd name="adj" fmla="val 4168"/>
            </a:avLst>
          </a:prstGeom>
          <a:solidFill>
            <a:srgbClr val="1E3543"/>
          </a:solidFill>
          <a:ln/>
        </p:spPr>
      </p:sp>
      <p:sp>
        <p:nvSpPr>
          <p:cNvPr id="26" name="Text 24"/>
          <p:cNvSpPr/>
          <p:nvPr/>
        </p:nvSpPr>
        <p:spPr>
          <a:xfrm>
            <a:off x="922414" y="5148461"/>
            <a:ext cx="5330592" cy="29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← (nota1 + nota2) / 2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8086" y="5831780"/>
            <a:ext cx="5779248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Calcula a média de duas notas dividindo a soma por 2.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330296" y="4489351"/>
            <a:ext cx="5169664" cy="281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 ordem importa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30296" y="4946055"/>
            <a:ext cx="5169664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Multiplicação e divisão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são executadas </a:t>
            </a:r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antes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 soma e subtração — igual à matemática. Use parênteses para controlar a precedência.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70723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Expressões Lógicas: Tomando Decisões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2179737"/>
            <a:ext cx="498661" cy="4986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17963" y="2179737"/>
            <a:ext cx="54756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 (AND)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017963" y="2592685"/>
            <a:ext cx="5475647" cy="644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Verdadeiro somente quando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todas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as condições são verdadeiras.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idade &gt;= 18 E possui_documento = V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3636367"/>
            <a:ext cx="498661" cy="4986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17963" y="3636367"/>
            <a:ext cx="54756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 (OR)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017963" y="4049316"/>
            <a:ext cx="5475647" cy="644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Verdadeiro quando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pelo menos uma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condição é verdadeira.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é_aluno OU é_professor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5092998"/>
            <a:ext cx="498661" cy="4986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17963" y="5092998"/>
            <a:ext cx="54756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NÃO (NOT)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017963" y="5505946"/>
            <a:ext cx="5475647" cy="644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Inverte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 resultado — verdadeiro vira falso e vice-versa.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NÃO está_logado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1380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Fluxogramas: Visualizando o Algoritmo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571427"/>
            <a:ext cx="6857332" cy="3371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53555" y="1876136"/>
            <a:ext cx="1475872" cy="184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Término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053555" y="2116276"/>
            <a:ext cx="3171295" cy="15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Marca fim do algoritmo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053555" y="2663752"/>
            <a:ext cx="1475872" cy="184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Decisão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53555" y="2903892"/>
            <a:ext cx="3171295" cy="15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Condição verdadeira ou falsa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053555" y="3451368"/>
            <a:ext cx="1475872" cy="184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Processo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53555" y="3691508"/>
            <a:ext cx="3171295" cy="151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Executa operação necessária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60524" y="4238984"/>
            <a:ext cx="1475872" cy="184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Início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60524" y="4479124"/>
            <a:ext cx="3171295" cy="15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Marca começo do algoritmo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17964" y="2468265"/>
            <a:ext cx="3481896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Por que usar fluxogramas?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017964" y="3193653"/>
            <a:ext cx="3481896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Antes de codificar, desenhar o fluxo ajuda a identificar falhas de lógica e facilita o trabalho em equipe.</a:t>
            </a:r>
            <a:endParaRPr lang="en-US" sz="14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686" y="5311378"/>
            <a:ext cx="2559978" cy="10106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5808" y="5336778"/>
            <a:ext cx="229685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⬭ Oval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935808" y="5716984"/>
            <a:ext cx="2296857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Marca o </a:t>
            </a:r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início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ou o </a:t>
            </a:r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fim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do algoritmo.</a:t>
            </a:r>
            <a:endParaRPr lang="en-US" sz="14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6335" y="5311378"/>
            <a:ext cx="2559978" cy="10106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89456" y="5336778"/>
            <a:ext cx="229685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▭ Retângulo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689456" y="5716984"/>
            <a:ext cx="2296857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Representa um </a:t>
            </a:r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processo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ou operação.</a:t>
            </a:r>
            <a:endParaRPr lang="en-US" sz="14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9983" y="5311378"/>
            <a:ext cx="2559978" cy="10106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43104" y="5336778"/>
            <a:ext cx="229685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◇ Losango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443104" y="5716984"/>
            <a:ext cx="2296857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Indica uma </a:t>
            </a:r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decisão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caminho sim ou não.</a:t>
            </a:r>
            <a:endParaRPr lang="en-US" sz="14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33631" y="5311378"/>
            <a:ext cx="2559978" cy="101064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96753" y="5336778"/>
            <a:ext cx="229685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→ Setas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9196753" y="5716984"/>
            <a:ext cx="2296857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Mostram a </a:t>
            </a:r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direção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do fluxo entre etapas.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70012"/>
            <a:ext cx="6223638" cy="1567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Abstração: Simplificando Problemas Complexos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98086" y="2374801"/>
            <a:ext cx="6223638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Abstrair significa </a:t>
            </a:r>
            <a:pPr algn="l"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focar apenas nas informações relevantes</a:t>
            </a:r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para resolver o problema — ignorando detalhes desnecessários.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3090168"/>
            <a:ext cx="888283" cy="10659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44520" y="3267770"/>
            <a:ext cx="51772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Identifique o essencial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744520" y="3623866"/>
            <a:ext cx="5177204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 que o problema realmente precisa? Filtre o ruído.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4156075"/>
            <a:ext cx="888283" cy="10659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44520" y="4333677"/>
            <a:ext cx="51772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Modele com simplicidade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744520" y="4689773"/>
            <a:ext cx="517720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Ex: </a:t>
            </a:r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 = nome + conta + saldo</a:t>
            </a:r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nada além do necessário.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5221982"/>
            <a:ext cx="888283" cy="10659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44520" y="5399584"/>
            <a:ext cx="51772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Código mais limpo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744520" y="5755680"/>
            <a:ext cx="5177204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Resultado: solução organizada, fácil de entender e de manter.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2026-09-04T12:37:15Z</dcterms:created>
  <dcterms:modified xsi:type="dcterms:W3CDTF">2026-09-04T12:37:15Z</dcterms:modified>
</cp:coreProperties>
</file>