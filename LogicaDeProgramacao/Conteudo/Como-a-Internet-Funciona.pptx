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abin"/>
      <p:regular r:id="rId201314"/>
    </p:embeddedFont>
    <p:embeddedFont>
      <p:font typeface="Cabin Bold"/>
      <p:regular r:id="rId201315"/>
    </p:embeddedFont>
    <p:embeddedFont>
      <p:font typeface="Unbounded"/>
      <p:regular r:id="rId201316"/>
    </p:embeddedFont>
    <p:embeddedFont>
      <p:font typeface="Unbounded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582341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Como a Internet Funciona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686720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Uma introdução aos conceitos fundamentais que fazem a internet funcionar — de servidores a sites, da World Wide Web aos domínios.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3333750"/>
            <a:ext cx="891480" cy="227335"/>
          </a:xfrm>
          <a:prstGeom prst="roundRect">
            <a:avLst>
              <a:gd name="adj" fmla="val 7897"/>
            </a:avLst>
          </a:prstGeom>
          <a:solidFill>
            <a:srgbClr val="054842"/>
          </a:solidFill>
          <a:ln/>
        </p:spPr>
      </p:sp>
      <p:sp>
        <p:nvSpPr>
          <p:cNvPr id="6" name="Text 3"/>
          <p:cNvSpPr/>
          <p:nvPr/>
        </p:nvSpPr>
        <p:spPr>
          <a:xfrm>
            <a:off x="613321" y="3378622"/>
            <a:ext cx="1169194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AULA BÁSICA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489844" y="3333750"/>
            <a:ext cx="892225" cy="227335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79587" y="3378622"/>
            <a:ext cx="1169938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TECNOLOGIA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1417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 Que Você Vai Aprender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653406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Conceitos essenciais para entender a internet de forma simples e clara.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23577" y="2061046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23577" y="2296269"/>
            <a:ext cx="3973637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6" name="Text 4"/>
          <p:cNvSpPr/>
          <p:nvPr/>
        </p:nvSpPr>
        <p:spPr>
          <a:xfrm>
            <a:off x="523577" y="2409155"/>
            <a:ext cx="397363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Servidor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23577" y="2718867"/>
            <a:ext cx="397363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 computador que responde às suas requisições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46786" y="2061046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46786" y="2296269"/>
            <a:ext cx="3973637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0" name="Text 8"/>
          <p:cNvSpPr/>
          <p:nvPr/>
        </p:nvSpPr>
        <p:spPr>
          <a:xfrm>
            <a:off x="4646786" y="2409155"/>
            <a:ext cx="397363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Páginas da Internet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6786" y="2718867"/>
            <a:ext cx="397363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HTML e hipertextos na prática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23577" y="3219971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3577" y="3455194"/>
            <a:ext cx="3973637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4" name="Text 12"/>
          <p:cNvSpPr/>
          <p:nvPr/>
        </p:nvSpPr>
        <p:spPr>
          <a:xfrm>
            <a:off x="523577" y="3568080"/>
            <a:ext cx="397363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Site e World Wide Web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3577" y="3877791"/>
            <a:ext cx="397363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Coleções de páginas e a grande rede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46786" y="3219971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46786" y="3455194"/>
            <a:ext cx="3973637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8" name="Text 16"/>
          <p:cNvSpPr/>
          <p:nvPr/>
        </p:nvSpPr>
        <p:spPr>
          <a:xfrm>
            <a:off x="4646786" y="3568080"/>
            <a:ext cx="397363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Software e Domínio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46786" y="3877791"/>
            <a:ext cx="397363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Programas e endereços na web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744066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 Que é um Servidor?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1408435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Um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servidor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é um computador poderoso que fornece serviços a uma rede. Toda vez que você acessa um site, baixa um arquivo ou envia uma mensagem, é um servidor que processa e responde ao seu pedido.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2294855"/>
            <a:ext cx="2259137" cy="1097161"/>
          </a:xfrm>
          <a:prstGeom prst="roundRect">
            <a:avLst>
              <a:gd name="adj" fmla="val 2045"/>
            </a:avLst>
          </a:prstGeom>
          <a:solidFill>
            <a:srgbClr val="304755"/>
          </a:solidFill>
          <a:ln/>
        </p:spPr>
      </p:sp>
      <p:sp>
        <p:nvSpPr>
          <p:cNvPr id="6" name="Text 3"/>
          <p:cNvSpPr/>
          <p:nvPr/>
        </p:nvSpPr>
        <p:spPr>
          <a:xfrm>
            <a:off x="673150" y="2444428"/>
            <a:ext cx="1959992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📄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Documentos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73150" y="2763664"/>
            <a:ext cx="19599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Armazena e entrega arquivos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932286" y="2294855"/>
            <a:ext cx="2259137" cy="1097161"/>
          </a:xfrm>
          <a:prstGeom prst="roundRect">
            <a:avLst>
              <a:gd name="adj" fmla="val 2045"/>
            </a:avLst>
          </a:pr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3081858" y="2444428"/>
            <a:ext cx="1959992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📧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E-mail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81858" y="2763664"/>
            <a:ext cx="19599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Gerencia o envio de mensagens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3577" y="3541588"/>
            <a:ext cx="4667845" cy="857771"/>
          </a:xfrm>
          <a:prstGeom prst="roundRect">
            <a:avLst>
              <a:gd name="adj" fmla="val 2616"/>
            </a:avLst>
          </a:prstGeom>
          <a:solidFill>
            <a:srgbClr val="304755"/>
          </a:solidFill>
          <a:ln/>
        </p:spPr>
      </p:sp>
      <p:sp>
        <p:nvSpPr>
          <p:cNvPr id="12" name="Text 9"/>
          <p:cNvSpPr/>
          <p:nvPr/>
        </p:nvSpPr>
        <p:spPr>
          <a:xfrm>
            <a:off x="673150" y="3691161"/>
            <a:ext cx="4368701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Web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73150" y="4010397"/>
            <a:ext cx="43687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Exibe páginas da internet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6793"/>
            <a:ext cx="8096845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Páginas da Internet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983754"/>
            <a:ext cx="5165154" cy="29053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2845" y="1989386"/>
            <a:ext cx="2652266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 que são?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972845" y="2245444"/>
            <a:ext cx="2652266" cy="64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Uma página da internet é um arquivo no formato </a:t>
            </a:r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HTML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que pode conter texto, imagens e </a:t>
            </a:r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hipertextos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(links) que permitem navegar de uma página para outra.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4086299"/>
            <a:ext cx="4004593" cy="6403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9538" y="4215110"/>
            <a:ext cx="3689821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HTML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09538" y="4436120"/>
            <a:ext cx="3689821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 código-base que define como a página aparece na sua tela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15830" y="4086299"/>
            <a:ext cx="4004593" cy="6403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01791" y="4215110"/>
            <a:ext cx="3689821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Hipertextos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801791" y="4436120"/>
            <a:ext cx="3689821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Os links que conectam uma página a outras páginas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072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 Que é HTML?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23577" y="2425750"/>
            <a:ext cx="395719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 linguagem da web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23577" y="2573089"/>
            <a:ext cx="3957191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HTML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(HyperText Markup Language) é o código que estrutura toda página da internet. São várias linhas de comando que dizem ao navegador como exibir textos, imagens, cores e links.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523577" y="2794620"/>
            <a:ext cx="3957191" cy="194370"/>
          </a:xfrm>
          <a:prstGeom prst="roundRect">
            <a:avLst>
              <a:gd name="adj" fmla="val 5773"/>
            </a:avLst>
          </a:prstGeom>
          <a:solidFill>
            <a:srgbClr val="08786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63" y="2851845"/>
            <a:ext cx="93464" cy="7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6614" y="2846933"/>
            <a:ext cx="4096569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Pense no HTML como a planta de uma casa: ele define onde fica cada elemento da página.</a:t>
            </a:r>
            <a:endParaRPr lang="en-US" sz="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994" y="731118"/>
            <a:ext cx="3957191" cy="39571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51396"/>
            <a:ext cx="4667845" cy="71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Site: Uma Coleção de Páginas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3952577" y="1314599"/>
            <a:ext cx="4667845" cy="52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Um </a:t>
            </a:r>
            <a:pPr algn="l" indent="0" marL="0">
              <a:lnSpc>
                <a:spcPct val="12100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site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é um conjunto de páginas web relacionadas entre si, hospedadas em um servidor e acessíveis por um endereço comum. Exemplos: o site da Wikipedia, o site de uma loja online, o site de notícias.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2577" y="1954560"/>
            <a:ext cx="243111" cy="2431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52577" y="2321123"/>
            <a:ext cx="4667845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Página Inicial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952577" y="2559100"/>
            <a:ext cx="4667845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"porta de entrada" do site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2577" y="2932881"/>
            <a:ext cx="243111" cy="24311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52577" y="3299445"/>
            <a:ext cx="4667845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Páginas Internas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3952577" y="3537421"/>
            <a:ext cx="4667845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Conteúdos conectados por links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2577" y="3911203"/>
            <a:ext cx="243111" cy="24311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52577" y="4277767"/>
            <a:ext cx="4667845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Hospedagem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3952577" y="4515743"/>
            <a:ext cx="4667845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Todas ficam em um servidor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World Wide Web (WWW)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729481"/>
            <a:ext cx="3957191" cy="39571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7994" y="2546524"/>
            <a:ext cx="395719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 grande rede de informações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67994" y="2693863"/>
            <a:ext cx="3957191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World Wide Web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é a rede de computadores na internet que fornece informações em formato de hipertexto. Para acessá-la, usamos programas chamados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navegadores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(browsers).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523577" y="4770760"/>
            <a:ext cx="2673995" cy="264319"/>
          </a:xfrm>
          <a:prstGeom prst="roundRect">
            <a:avLst>
              <a:gd name="adj" fmla="val 4245"/>
            </a:avLst>
          </a:prstGeom>
          <a:solidFill>
            <a:srgbClr val="304755"/>
          </a:solidFill>
          <a:ln/>
        </p:spPr>
      </p:sp>
      <p:sp>
        <p:nvSpPr>
          <p:cNvPr id="7" name="Text 4"/>
          <p:cNvSpPr/>
          <p:nvPr/>
        </p:nvSpPr>
        <p:spPr>
          <a:xfrm>
            <a:off x="598363" y="4845546"/>
            <a:ext cx="2524423" cy="114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Google Chrome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234928" y="4770760"/>
            <a:ext cx="2674069" cy="264319"/>
          </a:xfrm>
          <a:prstGeom prst="roundRect">
            <a:avLst>
              <a:gd name="adj" fmla="val 4245"/>
            </a:avLst>
          </a:pr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3309714" y="4845546"/>
            <a:ext cx="2524497" cy="114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🦊</a:t>
            </a:r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Mozilla Firefox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5946353" y="4770760"/>
            <a:ext cx="2674069" cy="264319"/>
          </a:xfrm>
          <a:prstGeom prst="roundRect">
            <a:avLst>
              <a:gd name="adj" fmla="val 4245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6021139" y="4845546"/>
            <a:ext cx="2524497" cy="114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🔵</a:t>
            </a:r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Edge / IE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44252"/>
            <a:ext cx="4667845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 Que é Software?</a:t>
            </a: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3952577" y="818183"/>
            <a:ext cx="4667845" cy="25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Software</a:t>
            </a:r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é qualquer programa de computador — uma aplicação que executa tarefas. Os navegadores são softwares, mas existem muitos outros tipos.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3952577" y="1138758"/>
            <a:ext cx="4667845" cy="844079"/>
          </a:xfrm>
          <a:prstGeom prst="roundRect">
            <a:avLst>
              <a:gd name="adj" fmla="val 1703"/>
            </a:avLst>
          </a:prstGeom>
          <a:solidFill>
            <a:srgbClr val="304755"/>
          </a:solidFill>
          <a:ln/>
        </p:spPr>
      </p:sp>
      <p:sp>
        <p:nvSpPr>
          <p:cNvPr id="6" name="Shape 3"/>
          <p:cNvSpPr/>
          <p:nvPr/>
        </p:nvSpPr>
        <p:spPr>
          <a:xfrm>
            <a:off x="4048423" y="1234604"/>
            <a:ext cx="287536" cy="287536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7525" y="1313631"/>
            <a:ext cx="129332" cy="1293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48423" y="1583531"/>
            <a:ext cx="4476155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Navegadores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048423" y="1761232"/>
            <a:ext cx="4476155" cy="1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Acessam sites e a WWW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952577" y="2044229"/>
            <a:ext cx="4667845" cy="844079"/>
          </a:xfrm>
          <a:prstGeom prst="roundRect">
            <a:avLst>
              <a:gd name="adj" fmla="val 1703"/>
            </a:avLst>
          </a:prstGeom>
          <a:solidFill>
            <a:srgbClr val="304755"/>
          </a:solidFill>
          <a:ln/>
        </p:spPr>
      </p:sp>
      <p:sp>
        <p:nvSpPr>
          <p:cNvPr id="11" name="Shape 7"/>
          <p:cNvSpPr/>
          <p:nvPr/>
        </p:nvSpPr>
        <p:spPr>
          <a:xfrm>
            <a:off x="4048423" y="2140074"/>
            <a:ext cx="287536" cy="287536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7525" y="2219102"/>
            <a:ext cx="129332" cy="1293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48423" y="2489002"/>
            <a:ext cx="4476155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Jogos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4048423" y="2666702"/>
            <a:ext cx="4476155" cy="1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Entretenimento interativo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3952577" y="2949699"/>
            <a:ext cx="4667845" cy="844079"/>
          </a:xfrm>
          <a:prstGeom prst="roundRect">
            <a:avLst>
              <a:gd name="adj" fmla="val 1703"/>
            </a:avLst>
          </a:prstGeom>
          <a:solidFill>
            <a:srgbClr val="304755"/>
          </a:solidFill>
          <a:ln/>
        </p:spPr>
      </p:sp>
      <p:sp>
        <p:nvSpPr>
          <p:cNvPr id="16" name="Shape 11"/>
          <p:cNvSpPr/>
          <p:nvPr/>
        </p:nvSpPr>
        <p:spPr>
          <a:xfrm>
            <a:off x="4048423" y="3045544"/>
            <a:ext cx="287536" cy="287536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27525" y="3124572"/>
            <a:ext cx="129332" cy="1293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48423" y="3394472"/>
            <a:ext cx="4476155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Vídeo e Música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4048423" y="3572173"/>
            <a:ext cx="4476155" cy="1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Streaming e reprodutores</a:t>
            </a:r>
            <a:endParaRPr lang="en-US" sz="750" dirty="0"/>
          </a:p>
        </p:txBody>
      </p:sp>
      <p:sp>
        <p:nvSpPr>
          <p:cNvPr id="20" name="Shape 14"/>
          <p:cNvSpPr/>
          <p:nvPr/>
        </p:nvSpPr>
        <p:spPr>
          <a:xfrm>
            <a:off x="3952577" y="3855169"/>
            <a:ext cx="4667845" cy="844079"/>
          </a:xfrm>
          <a:prstGeom prst="roundRect">
            <a:avLst>
              <a:gd name="adj" fmla="val 1703"/>
            </a:avLst>
          </a:prstGeom>
          <a:solidFill>
            <a:srgbClr val="304755"/>
          </a:solidFill>
          <a:ln/>
        </p:spPr>
      </p:sp>
      <p:sp>
        <p:nvSpPr>
          <p:cNvPr id="21" name="Shape 15"/>
          <p:cNvSpPr/>
          <p:nvPr/>
        </p:nvSpPr>
        <p:spPr>
          <a:xfrm>
            <a:off x="4048423" y="3951015"/>
            <a:ext cx="287536" cy="287536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27525" y="4030042"/>
            <a:ext cx="129332" cy="1293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48423" y="4299942"/>
            <a:ext cx="4476155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Produtividade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4048423" y="4477643"/>
            <a:ext cx="4476155" cy="1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Editores, planilhas, e-mails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6632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Domínio: O Endereço da Web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680270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 que é um domínio?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23577" y="2049810"/>
            <a:ext cx="3865959" cy="10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 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domínio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é a parte final do endereço de um site. Ele identifica a "natureza" ou a origem do site. É como o sobrenome de um endereço na internet.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Exemplo: em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www.escola.edu.br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o domínio é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A988B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.edu.br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759226" y="1698947"/>
            <a:ext cx="3865959" cy="2409974"/>
          </a:xfrm>
          <a:prstGeom prst="roundRect">
            <a:avLst>
              <a:gd name="adj" fmla="val 93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9226" y="2134493"/>
            <a:ext cx="3865959" cy="93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9226" y="2807047"/>
            <a:ext cx="3865959" cy="93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59226" y="3240212"/>
            <a:ext cx="3865959" cy="93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9226" y="3673376"/>
            <a:ext cx="3865959" cy="935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06592" y="1698947"/>
            <a:ext cx="9351" cy="24099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913635" y="1798216"/>
            <a:ext cx="169820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.com / .com.br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58545" y="1798216"/>
            <a:ext cx="24695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Comercial / empresas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13635" y="2231380"/>
            <a:ext cx="169820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.org / .org.br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58545" y="2231380"/>
            <a:ext cx="201230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Organizações sem fins lucrativos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13635" y="2903934"/>
            <a:ext cx="169820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.edu.br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58545" y="2903934"/>
            <a:ext cx="24695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Instituições de ensino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13635" y="3337099"/>
            <a:ext cx="169820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.gov.br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58545" y="3337099"/>
            <a:ext cx="24695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Governo brasileiro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3635" y="3770263"/>
            <a:ext cx="169820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.net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58545" y="3770263"/>
            <a:ext cx="246950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Redes e infraestrutura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Resumo: Os Pilares da Internet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606" y="706189"/>
            <a:ext cx="7824788" cy="4155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02501" y="3901421"/>
            <a:ext cx="1714486" cy="21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WWW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02501" y="4180379"/>
            <a:ext cx="2963409" cy="13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Rede global acessada por navegadores.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334047" y="3018876"/>
            <a:ext cx="1714486" cy="21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Site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334047" y="3297834"/>
            <a:ext cx="2963409" cy="13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Coleção de páginas relacionadas.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269273" y="1933912"/>
            <a:ext cx="1714486" cy="21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Página Web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69273" y="2212870"/>
            <a:ext cx="2963409" cy="13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Arquivo HTML com links.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953" y="954206"/>
            <a:ext cx="1714486" cy="21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Servidor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953" y="1233164"/>
            <a:ext cx="2963409" cy="13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Processa pedidos e entrega conteúdo.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23577" y="4903738"/>
            <a:ext cx="855404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Cada conceito se conecta ao próximo: servidores entregam páginas web, páginas formam sites, e sites compõem a World Wide Web — tudo acessado por softwares chamados navegadores.</a:t>
            </a:r>
            <a:endParaRPr lang="en-US" sz="550" dirty="0"/>
          </a:p>
        </p:txBody>
      </p:sp>
      <p:sp>
        <p:nvSpPr>
          <p:cNvPr id="13" name="Shape 10"/>
          <p:cNvSpPr/>
          <p:nvPr/>
        </p:nvSpPr>
        <p:spPr>
          <a:xfrm>
            <a:off x="523577" y="5035525"/>
            <a:ext cx="4029745" cy="485254"/>
          </a:xfrm>
          <a:prstGeom prst="roundRect">
            <a:avLst>
              <a:gd name="adj" fmla="val 2312"/>
            </a:avLst>
          </a:prstGeom>
          <a:solidFill>
            <a:srgbClr val="112836"/>
          </a:solidFill>
          <a:ln w="9525">
            <a:solidFill>
              <a:srgbClr val="4960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7888" y="5119836"/>
            <a:ext cx="3861122" cy="114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Lembre-se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607888" y="5256981"/>
            <a:ext cx="3861122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internet é uma rede de computadores que se comunicam. Servidores respondem, navegadores exibem, e links conectam tudo.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4590678" y="5035525"/>
            <a:ext cx="4029745" cy="485254"/>
          </a:xfrm>
          <a:prstGeom prst="roundRect">
            <a:avLst>
              <a:gd name="adj" fmla="val 2312"/>
            </a:avLst>
          </a:prstGeom>
          <a:solidFill>
            <a:srgbClr val="112836"/>
          </a:solidFill>
          <a:ln w="9525">
            <a:solidFill>
              <a:srgbClr val="4960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74989" y="5119836"/>
            <a:ext cx="3861122" cy="114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🔑</a:t>
            </a:r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Conceito-chave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4674989" y="5256981"/>
            <a:ext cx="3861122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HTML é a linguagem das páginas. Domínio é o endereço. Software é o programa. Juntos, eles fazem a web funcionar.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2026-08-14T14:15:59Z</dcterms:created>
  <dcterms:modified xsi:type="dcterms:W3CDTF">2026-08-14T14:15:59Z</dcterms:modified>
</cp:coreProperties>
</file>