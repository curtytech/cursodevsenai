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4043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37931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FUNDAMENTOS DA COMPUTAÇÃO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22215"/>
            <a:ext cx="10626328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8FAFC"/>
                </a:solidFill>
                <a:latin typeface="Inter"/>
              </a:rPr>
              <a:t>Código de Alto e </a:t>
            </a:r>
            <a:r>
              <a:rPr sz="4200" b="1" i="0" u="none" dirty="0" err="1">
                <a:solidFill>
                  <a:srgbClr val="F8FAFC"/>
                </a:solidFill>
                <a:latin typeface="Inter"/>
              </a:rPr>
              <a:t>Baixo</a:t>
            </a:r>
            <a:r>
              <a:rPr sz="42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4200" b="1" i="0" u="none" dirty="0" err="1">
                <a:solidFill>
                  <a:srgbClr val="F8FAFC"/>
                </a:solidFill>
                <a:latin typeface="Inter"/>
              </a:rPr>
              <a:t>Nível</a:t>
            </a:r>
            <a:endParaRPr sz="42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564135"/>
            <a:ext cx="6286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Definições, arquitetura de hardware, exemplos de linguagens e o papel essencial dos compiladores.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4684"/>
            <a:ext cx="5334000" cy="2139255"/>
          </a:xfrm>
          <a:prstGeom prst="roundRect">
            <a:avLst>
              <a:gd name="adj" fmla="val 71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54684"/>
            <a:ext cx="5334000" cy="2139255"/>
          </a:xfrm>
          <a:prstGeom prst="roundRect">
            <a:avLst>
              <a:gd name="adj" fmla="val 71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335684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335684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O Espectro da Abstração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A distância entre a intenção humana e a execução física do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30984"/>
            <a:ext cx="607575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Baixo Nível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192934"/>
            <a:ext cx="4724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Próximo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do hardware.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Gerenciamento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manual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memória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registradores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Máximo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desempenho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30984"/>
            <a:ext cx="55911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Alto Nível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192934"/>
            <a:ext cx="4724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Foco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na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lógica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humana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Abstrai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detalhes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físicos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 Alta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produtividade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portabilidade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Linguagens de Baixo Nível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Comunicação direta com o processador e arquitetura física.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6710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Inter"/>
              </a:rPr>
              <a:t>Linguagem</a:t>
            </a:r>
            <a:r>
              <a:rPr sz="1500" b="1" i="0" u="none" dirty="0">
                <a:solidFill>
                  <a:srgbClr val="0F172A"/>
                </a:solidFill>
                <a:latin typeface="Inter"/>
              </a:rPr>
              <a:t> de </a:t>
            </a:r>
            <a:r>
              <a:rPr sz="1500" b="1" i="0" u="none" dirty="0" err="1">
                <a:solidFill>
                  <a:srgbClr val="0F172A"/>
                </a:solidFill>
                <a:latin typeface="Inter"/>
              </a:rPr>
              <a:t>Máquina</a:t>
            </a:r>
            <a:endParaRPr sz="15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8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Instruções binárias puras em sequências de 0 e 1 executadas pelo processador.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6710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Uso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mnemônicos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textuais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mapeados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diretamente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instruções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67100"/>
            <a:ext cx="3838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Inter"/>
              </a:rPr>
              <a:t>Características</a:t>
            </a:r>
            <a:endParaRPr sz="15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534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Sem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portabilidade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Cada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família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processador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possui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seu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próprio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conjunto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comandos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85925"/>
            <a:ext cx="10972800" cy="3619500"/>
          </a:xfrm>
          <a:prstGeom prst="roundRect">
            <a:avLst>
              <a:gd name="adj" fmla="val 31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Exemplo: Assembly x86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Manipulação direta de registradores e chamadas de sistema (syscalls).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1990725"/>
            <a:ext cx="10458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8BDF8"/>
                </a:solidFill>
                <a:latin typeface="Inter"/>
              </a:rPr>
              <a:t>section .text global _start _start: mov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edx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len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;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Tamanho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da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mensagem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mov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ecx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, msg ;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Endereço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da string mov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ebx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, 1 ;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Descritor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arquivo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(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stdout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) mov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eax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, 4 ;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Número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da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syscall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(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sys_write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) int 0x80 ; </a:t>
            </a:r>
            <a:r>
              <a:rPr sz="1200" b="0" i="0" u="none" dirty="0" err="1">
                <a:solidFill>
                  <a:srgbClr val="38BDF8"/>
                </a:solidFill>
                <a:latin typeface="Inter"/>
              </a:rPr>
              <a:t>Interrupção</a:t>
            </a:r>
            <a:r>
              <a:rPr sz="1200" b="0" i="0" u="none" dirty="0">
                <a:solidFill>
                  <a:srgbClr val="38BDF8"/>
                </a:solidFill>
                <a:latin typeface="Inter"/>
              </a:rPr>
              <a:t> para o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20553"/>
            <a:ext cx="10458450" cy="1950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8BDF8"/>
                </a:solidFill>
                <a:latin typeface="Courier New"/>
              </a:rPr>
              <a:t>section .text global _start _start: mov edx, len ; Tamanho da mensagem mov ecx, msg ; Endereço da string mov ebx, 1 ; Descritor de arquivo (stdout) mov eax, 4 ; Número da syscall (sys_write) int 0x80 ; Interrupção para o kernel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Linguagens de Alto Nível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Foco na legibilidade e abstração total do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6710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Abstração Avançada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Uso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estruturas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complexas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listas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dicionários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objetos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tipagem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dinâmica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6710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Alta Portabilidade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O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mesmo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código-fonte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pode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ser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executado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em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diferentes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sistemas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operacionais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67100"/>
            <a:ext cx="3838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Exemplos Populares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Python, Java, JavaScript, C# e Ruby utilizados em larga escala na indústria.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85925"/>
            <a:ext cx="10972800" cy="3619500"/>
          </a:xfrm>
          <a:prstGeom prst="roundRect">
            <a:avLst>
              <a:gd name="adj" fmla="val 315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Exemplo: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Sintaxe limpa e legível que oculta toda a complexidade do sistema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09550" y="2028825"/>
            <a:ext cx="12611100" cy="2933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0F172A"/>
                </a:solidFill>
                <a:latin typeface="Inter"/>
              </a:rPr>
              <a:t># 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Imprime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uma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mensagem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na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tela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de forma simples 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mensagem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= "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Olá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, Mundo!" print(</a:t>
            </a:r>
            <a:r>
              <a:rPr sz="1500" b="0" i="0" u="none" dirty="0" err="1">
                <a:solidFill>
                  <a:srgbClr val="0F172A"/>
                </a:solidFill>
                <a:latin typeface="Inter"/>
              </a:rPr>
              <a:t>mensagem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38475"/>
            <a:ext cx="1036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# 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Imprime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uma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mensagem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na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tela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 de forma simples 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mensagem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 = "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Olá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, Mundo!" print(</a:t>
            </a:r>
            <a:r>
              <a:rPr sz="1500" b="0" i="0" u="none" dirty="0" err="1">
                <a:solidFill>
                  <a:srgbClr val="0F172A"/>
                </a:solidFill>
                <a:latin typeface="Courier New"/>
              </a:rPr>
              <a:t>mensagem</a:t>
            </a:r>
            <a:r>
              <a:rPr sz="1500" b="0" i="0" u="none" dirty="0">
                <a:solidFill>
                  <a:srgbClr val="0F172A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7465"/>
            <a:ext cx="3454449" cy="2413545"/>
          </a:xfrm>
          <a:prstGeom prst="roundRect">
            <a:avLst>
              <a:gd name="adj" fmla="val 63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17465"/>
            <a:ext cx="3454449" cy="2413545"/>
          </a:xfrm>
          <a:prstGeom prst="roundRect">
            <a:avLst>
              <a:gd name="adj" fmla="val 63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17465"/>
            <a:ext cx="3454449" cy="2413545"/>
          </a:xfrm>
          <a:prstGeom prst="roundRect">
            <a:avLst>
              <a:gd name="adj" fmla="val 63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19846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19846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524" y="319846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O Que São Compiladores?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Tradutores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universais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entre a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abstração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humana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e a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linguagem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máquina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693765"/>
            <a:ext cx="360884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Código-Fonte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55715"/>
            <a:ext cx="28448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Escrito em linguagem de alto nível pelo programador (fácil entendimento).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1274" y="3693765"/>
            <a:ext cx="360884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0F172A"/>
                </a:solidFill>
                <a:latin typeface="Inter"/>
              </a:rPr>
              <a:t>Compilador</a:t>
            </a:r>
            <a:endParaRPr sz="165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21274" y="4055715"/>
            <a:ext cx="28448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Analisa,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otimiza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traduz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o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programa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inteiro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código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máquina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ou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assembly.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0524" y="3693765"/>
            <a:ext cx="360884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Executável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0524" y="4055715"/>
            <a:ext cx="28448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Arquivo binário pronto para ser executado diretamente pelo processador.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24225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324225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324225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324225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Fases do Processo de Compilação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Como o código passa por diferentes níveis até virar binário.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552825"/>
            <a:ext cx="2238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ETAPA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552825"/>
            <a:ext cx="2238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ETAPA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552825"/>
            <a:ext cx="2238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ETAPA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552825"/>
            <a:ext cx="2238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ETAPA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Análise Léxica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0527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Transforma caracteres em tokens significativos.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Análise Sintática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10527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Valida a gramática e estrutura do código.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Otimização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10527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Melhora o desempenho e reduz o uso de recursos.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Geração de Código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10527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Produz o binário ou assembly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90875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Exemplos de Compiladores Conhecidos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Ferramentas de mercado essenciais para a engenharia de software moderna.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6710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GCC (GNU Compiler Collection)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Padrão industrial para compilação de C e C++ em sistemas baseados em Unix/Linux.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6710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LLVM / Clang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Infraestrutura moderna de compiladores modular amplamente adotada pela Apple e Google.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67100"/>
            <a:ext cx="3838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Javac (Java Compiler)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10000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Compila código Java em bytecode intermediário executado pela Máquina Virtual Java (JVM).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5771"/>
            <a:ext cx="5334000" cy="2262782"/>
          </a:xfrm>
          <a:prstGeom prst="roundRect">
            <a:avLst>
              <a:gd name="adj" fmla="val 6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5771"/>
            <a:ext cx="5334000" cy="2262782"/>
          </a:xfrm>
          <a:prstGeom prst="roundRect">
            <a:avLst>
              <a:gd name="adj" fmla="val 67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Comparativo Direto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Principais diferenças estruturais entre os paradigmas de programação.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50096"/>
            <a:ext cx="61757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Inter"/>
              </a:rPr>
              <a:t>Baixo Nível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50146"/>
            <a:ext cx="4800600" cy="1234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Controle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total de hardware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memória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•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Desempenho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ultra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otimizado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•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Baixa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portabilidade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entre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arquiteturas</a:t>
            </a:r>
            <a:r>
              <a:rPr dirty="0"/>
              <a:t>
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•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Curva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aprendizado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íngreme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complexa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2725" y="3150096"/>
            <a:ext cx="5629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D9488"/>
                </a:solidFill>
                <a:latin typeface="Inter"/>
              </a:rPr>
              <a:t>Alto Nível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50146"/>
            <a:ext cx="4800600" cy="1234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• Alta produtividade e legibilidade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• Abstração de ponteiros e hardware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• Excelente portabilidade multi-plataforma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• Requer tradução via compilador ou interpretador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7027"/>
            <a:ext cx="5372100" cy="1794420"/>
          </a:xfrm>
          <a:prstGeom prst="roundRect">
            <a:avLst>
              <a:gd name="adj" fmla="val 84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264247"/>
            <a:ext cx="5372100" cy="1520130"/>
          </a:xfrm>
          <a:prstGeom prst="roundRect">
            <a:avLst>
              <a:gd name="adj" fmla="val 100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43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A escolha correta depende sempre dos requisitos do projeto.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41352"/>
            <a:ext cx="62257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Sistemas Críticos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84252"/>
            <a:ext cx="4838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Sistemas embarcados, drivers de dispositivos e motores de jogos utilizam baixo nível por exigirem máxima eficiência.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578572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Aplicações Gerais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921472"/>
            <a:ext cx="48387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Desenvolvimento web, inteligência artificial e aplicativos móveis priorizam o alto nível para agilizar entregas.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67400" y="4033837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33067" y="2786062"/>
            <a:ext cx="6925865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Perguntas ou 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4859" y="3531533"/>
            <a:ext cx="68222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Obrigado pela atenção! Vamos abrir espaço para discussão.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701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Calibri</vt:lpstr>
      <vt:lpstr>Courier New</vt:lpstr>
      <vt:lpstr>Inter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Phelipe</cp:lastModifiedBy>
  <cp:revision>3</cp:revision>
  <dcterms:created xsi:type="dcterms:W3CDTF">2013-01-27T09:14:16Z</dcterms:created>
  <dcterms:modified xsi:type="dcterms:W3CDTF">2026-09-23T12:34:32Z</dcterms:modified>
  <cp:category/>
</cp:coreProperties>
</file>