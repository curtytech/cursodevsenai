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3152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9260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Segoe UI"/>
              </a:defRPr>
            </a:pPr>
            <a:r>
              <a:t>GUIA PARA DESENVOLVEDORES INICIANTES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Extensões de Arquivos:</a:t>
            </a:r>
          </a:p>
          <a:p>
            <a:pPr>
              <a:spcBef>
                <a:spcPts val="600"/>
              </a:spcBef>
              <a:defRPr sz="3600" b="1">
                <a:solidFill>
                  <a:srgbClr val="38BDF8"/>
                </a:solidFill>
                <a:latin typeface="Segoe UI"/>
              </a:defRPr>
            </a:pPr>
            <a:r>
              <a:t>O Mapa Essencial da Programação e Mídia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Entenda o propósito, formato interno, diferenças técnicas e casos de uso de imagens, documentos, áudios, vídeos, pacotes compactados e códigos-fonte para construir projetos sem surpresas.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🎨 Imagens &amp; Design</a:t>
            </a:r>
          </a:p>
          <a:p>
            <a:pPr>
              <a:spcBef>
                <a:spcPts val="600"/>
              </a:spcBef>
              <a:defRPr sz="1000">
                <a:solidFill>
                  <a:srgbClr val="34D399"/>
                </a:solidFill>
                <a:latin typeface="Consolas"/>
              </a:defRPr>
            </a:pPr>
            <a:r>
              <a:t>.png .jpg .svg .webp .gif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502920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51206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📄 Textos &amp; Estrutura</a:t>
            </a:r>
          </a:p>
          <a:p>
            <a:pPr>
              <a:spcBef>
                <a:spcPts val="600"/>
              </a:spcBef>
              <a:defRPr sz="1000">
                <a:solidFill>
                  <a:srgbClr val="FBBF24"/>
                </a:solidFill>
                <a:latin typeface="Consolas"/>
              </a:defRPr>
            </a:pPr>
            <a:r>
              <a:t>.json .md .csv .yaml 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502920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51206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🎬 Áudio &amp; Vídeo</a:t>
            </a:r>
          </a:p>
          <a:p>
            <a:pPr>
              <a:spcBef>
                <a:spcPts val="600"/>
              </a:spcBef>
              <a:defRPr sz="1000">
                <a:solidFill>
                  <a:srgbClr val="A78BFA"/>
                </a:solidFill>
                <a:latin typeface="Consolas"/>
              </a:defRPr>
            </a:pPr>
            <a:r>
              <a:t>.mp3 .wav .mp4 .webm .mkv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5029200"/>
            <a:ext cx="25146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51206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💻 Código &amp; Sistemas</a:t>
            </a:r>
          </a:p>
          <a:p>
            <a:pPr>
              <a:spcBef>
                <a:spcPts val="600"/>
              </a:spcBef>
              <a:defRPr sz="1000">
                <a:solidFill>
                  <a:srgbClr val="38BDF8"/>
                </a:solidFill>
                <a:latin typeface="Consolas"/>
              </a:defRPr>
            </a:pPr>
            <a:r>
              <a:t>.html .css .js .py .php 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1 de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CONCEITOS BÁSICOS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 que é uma Extensão e Por Que Importa?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Como os sistemas operacionais e ferramentas de desenvolvimento identificam o formato dos arquivos.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0779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1. O Sufixo de Metadados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 que é na prática: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A extensão é a sequência de caracteres após o último ponto no nome (ex: script.js).</a:t>
            </a:r>
            <a:br/>
            <a:br/>
            <a:r>
              <a:t>Ela é uma convenção que informa ao Sistema Operacional qual programa padrão deve abri-lo (ex: VS Code, Photoshop, Navegador).</a:t>
            </a:r>
            <a:br/>
            <a:br/>
            <a:r>
              <a:t>⚠️ Armadilha comum: Apenas renomear foto.jpg para foto.png NÃO converte os bytes internos da imagem!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737360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8" y="1920240"/>
            <a:ext cx="290779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Segoe UI"/>
              </a:defRPr>
            </a:pPr>
            <a:r>
              <a:t>2. O Papel no Desenvolvimento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Por que programadores se importam: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Editores de Código (VS Code): Ativam realce de sintaxe (syntax highlighting), autocompletar e linters corretos.</a:t>
            </a:r>
            <a:br/>
            <a:br/>
            <a:r>
              <a:t>Compiladores &amp; Runtimes: O Node.js espera código JS/TS; o Python executa .py; o GCC compila .c/.cpp.</a:t>
            </a:r>
            <a:br/>
            <a:br/>
            <a:r>
              <a:t>Servidores Web (HTTP): A extensão auxilia na definição do cabeçalho Content-Type (MIME Type) retornado ao navegador.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737360"/>
            <a:ext cx="3364992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1920240"/>
            <a:ext cx="290779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Segoe UI"/>
              </a:defRPr>
            </a:pPr>
            <a:r>
              <a:t>3. Dica Prática de Sistema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Configuração obrigatória para Devs: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Por padrão, o Windows e o macOS ocultam as extensões de arquivos conhecidos.</a:t>
            </a:r>
            <a:br/>
            <a:br/>
            <a:r>
              <a:t>Isso gera erros graves: você cria script.js mas o sistema salva como script.js.txt sem você ver!</a:t>
            </a:r>
            <a:br/>
            <a:br/>
            <a:r>
              <a:t>✅ Ação imediata: No Windows Explorer, vá em Exibir &gt; Mostrar &gt; marque 'Extensões de nomes de arquivos'.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2 de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IMAGENS &amp;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Extensões de Imagem na Web e Aplicações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Escolher o formato certo define o desempenho, nitidez e tempo de carregamento do seu site ou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Consolas"/>
              </a:defRPr>
            </a:pPr>
            <a:r>
              <a:t>.png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Portable Network Graphics • Lossless (Sem Perda) + Canal Alfa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Preserva nitidez perfeita e suporta transparência real.</a:t>
            </a:r>
            <a:br/>
            <a:r>
              <a:t>🎯 Uso recomendado: Logos, ícones sem vetor, capturas de tela e ilustrações técnicas.</a:t>
            </a:r>
            <a:br/>
            <a:r>
              <a:t>💡 Dica Dev: Pode gerar arquivos pesados. Otimize com ferramentas como TinyPNG antes do deploy.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Consolas"/>
              </a:defRPr>
            </a:pPr>
            <a:r>
              <a:t>.jpg / .jpeg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Joint Photographic Experts Group • Lossy (Com Perda) | Sem Transparência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Alta taxa de compressão descartando detalhes imperceptíveis.</a:t>
            </a:r>
            <a:br/>
            <a:r>
              <a:t>🎯 Uso recomendado: Fotografias realistas, banners grandes e imagens com muitos gradientes.</a:t>
            </a:r>
            <a:br/>
            <a:r>
              <a:t>💡 Dica Dev: Nunca use para logotipos ou textos, pois gera ruídos/artefatos visíveis nas bordas.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onsolas"/>
              </a:defRPr>
            </a:pPr>
            <a:r>
              <a:t>.svg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Scalable Vector Graphics • Vetorial Baseado em Código XML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Calculado matematicamente com tags XML. Zoom infinito sem pixelar.</a:t>
            </a:r>
            <a:br/>
            <a:r>
              <a:t>🎯 Uso recomendado: Ícones de UI, logos responsivos, gráficos dinâmicos e ilustrações flat.</a:t>
            </a:r>
            <a:br/>
            <a:r>
              <a:t>💡 Dica Dev: Pode ser inserido direto no HTML e estilizado/animado via CSS e JavaScript!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Consolas"/>
              </a:defRPr>
            </a:pPr>
            <a:r>
              <a:t>.webp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Formato Moderno Web (Google) • Lossy &amp; Lossless + Transparência + Animação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O padrão ouro da web moderna. 25% a 35% menor que JPG/PNG equivalentes.</a:t>
            </a:r>
            <a:br/>
            <a:r>
              <a:t>🎯 Uso recomendado: Imagens gerais de e-commerce, blogs e aplicações web modernas.</a:t>
            </a:r>
            <a:br/>
            <a:r>
              <a:t>💡 Dica Dev: Suportado por todos os navegadores modernos. Utilize com tag HTML5 &lt;picture&gt;.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Consolas"/>
              </a:defRPr>
            </a:pPr>
            <a:r>
              <a:t>.gif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Graphics Interchange Format • 8 bits (Apenas 256 cores) + Animação em Loop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Formato histórico dos anos 80. Animações simples sem som.</a:t>
            </a:r>
            <a:br/>
            <a:r>
              <a:t>🎯 Uso recomendado: Memes rápidos e animações simples legadas.</a:t>
            </a:r>
            <a:br/>
            <a:r>
              <a:t>💡 Dica Dev: Evite em produção web moderna! Vídeos .mp4 ou .webm pesam até 90% menos que um GIF.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Consolas"/>
              </a:defRPr>
            </a:pPr>
            <a:r>
              <a:t>.ico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Windows Icon File • Múltiplas Resoluções no Mesmo Arquivo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Container de ícones contendo versões de 16x16, 32x32 e 48x48.</a:t>
            </a:r>
            <a:br/>
            <a:r>
              <a:t>🎯 Uso recomendado: favicon.ico na raiz de websites para abas de navegadores e favoritos.</a:t>
            </a:r>
            <a:br/>
            <a:r>
              <a:t>💡 Dica Dev: Navegadores modernos também aceitam .png e .svg para favicon no &lt;head&gt;.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3 de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TEXTO &amp; DADOS ESTRUTURADOS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Arquivos de Texto, Comunicação e Armazenamento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Como transferir dados entre sistemas, guardar configurações e redigir documentação técnica.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94A3B8"/>
                </a:solidFill>
                <a:latin typeface="Consolas"/>
              </a:defRPr>
            </a:pPr>
            <a:r>
              <a:t>.txt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Texto Puro (Plain Text) • Sem Formatação Estilizada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Apenas caracteres brutos legíveis (UTF-8, ASCII).</a:t>
            </a:r>
            <a:br/>
            <a:r>
              <a:t>🎯 Quando usar: Logs simples, notas de instruções, saídas brutas de terminal.</a:t>
            </a:r>
            <a:br/>
            <a:r>
              <a:t>💡 Dica Dev: Pode ser lido facilmente em qualquer linguagem sem instalar bibliotecas.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onsolas"/>
              </a:defRPr>
            </a:pPr>
            <a:r>
              <a:t>.md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Markdown Documentation • Texto com Marcação Leve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Converte texto fácil de ler em HTML formatado (títulos, listas, links, código).</a:t>
            </a:r>
            <a:br/>
            <a:r>
              <a:t>🎯 Quando usar: README.md do GitHub, documentação de bibliotecas, wikis técnicas.</a:t>
            </a:r>
            <a:br/>
            <a:r>
              <a:t>💡 Dica Dev: Todo repositório profissional DEVE ter um excelente README.md na raiz.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Consolas"/>
              </a:defRPr>
            </a:pPr>
            <a:r>
              <a:t>.json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JavaScript Object Notation • O Padrão da Web para APIs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Estrutura chave-valor leve, legível por humanos e nativa em quase toda linguagem.</a:t>
            </a:r>
            <a:br/>
            <a:r>
              <a:t>🎯 Quando usar: Troca de dados em APIs REST, configs (package.json, tsconfig.json).</a:t>
            </a:r>
            <a:br/>
            <a:r>
              <a:t>💡 Dica Dev: Sintaxe rigorosa: aspas duplas obrigatórias nas chaves; sem vírgula no último item!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Consolas"/>
              </a:defRPr>
            </a:pPr>
            <a:r>
              <a:t>.csv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Comma-Separated Values • Dados Tabulares em Texto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Linhas representam registros e vírgulas (ou ponto-e-vírgula) separam as colunas.</a:t>
            </a:r>
            <a:br/>
            <a:r>
              <a:t>🎯 Quando usar: Exportação de relatórios para Excel, migração de bancos e Data Science.</a:t>
            </a:r>
            <a:br/>
            <a:r>
              <a:t>💡 Dica Dev: Cuidado com separadores regionais: Brasil costuma usar ';' devido à vírgula decimal.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Consolas"/>
              </a:defRPr>
            </a:pPr>
            <a:r>
              <a:t>.yaml / .yml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YAML Ain't Markup Language • Configurações Baseadas em Indentação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Formato ultralegível focado em humanos, sem chaves ou colchetes excessivos.</a:t>
            </a:r>
            <a:br/>
            <a:r>
              <a:t>🎯 Quando usar: Docker Compose, GitHub Actions, pipelines CI/CD e Kubernetes.</a:t>
            </a:r>
            <a:br/>
            <a:r>
              <a:t>💡 Dica Dev: Muito sensível a espaços! Use sempre 2 espaços; NUNCA use tabulação (TAB).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Consolas"/>
              </a:defRPr>
            </a:pPr>
            <a:r>
              <a:t>.xml / .pdf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XML &amp; Documentos Finais • Dados Hierárquicos &amp; PDFs Finais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XML: Baseado em tags (&lt;item&gt;valor&lt;/item&gt;), usado em SOAP, Android e SVG.</a:t>
            </a:r>
            <a:br/>
            <a:r>
              <a:t>PDF: Formato fixo para impressão e visualização consistente.</a:t>
            </a:r>
            <a:br/>
            <a:r>
              <a:t>🎯 Quando usar: XML para sistemas bancários/fiscais (NFe); PDF para faturas e relatórios finais.</a:t>
            </a:r>
            <a:br/>
            <a:r>
              <a:t>💡 Dica Dev: Para ler XML/PDF em código, sempre utilize parsers consolidados da linguagem.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4 de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A78BFA"/>
                </a:solidFill>
                <a:latin typeface="Segoe UI"/>
              </a:defRPr>
            </a:pPr>
            <a:r>
              <a:t>ÁUDIO &amp; MULTIMÍDIA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Extensões de Áudio para Web, Jogos e Aplicações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Como escolher entre compatibilidade universal, alta fidelidade e compressão leve.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Consolas"/>
              </a:defRPr>
            </a:pPr>
            <a:r>
              <a:t>.mp3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MPEG Audio Layer III • Compressão com perda (Lossy)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O formato mais conhecido do planeta. Reduz o áudio eliminando frequências menos perceptíveis ao ouvido humano.</a:t>
            </a:r>
            <a:br/>
            <a:r>
              <a:t>• Compatibilidade: Praticamente 100% de compatibilidade em navegadores, sistemas operacionais, dispositivos móveis e players.</a:t>
            </a:r>
            <a:br/>
            <a:r>
              <a:t>• 🎯 Quando usar no Dev: Músicas de fundo, podcasts, efeitos sonoros gerais em websites e aplicações comuns.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.wav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Waveform Audio File Format • Áudio cru sem compressão (PCM Lossless)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Qualidade máxima de estúdio. Não compacta o fluxo de dados, gerando arquivos enormes (ex: 50MB para 5 minutos).</a:t>
            </a:r>
            <a:br/>
            <a:r>
              <a:t>• Compatibilidade: Suportado nativamente no Windows, Mac e navegadores modernos com tag HTML5 &lt;audio&gt;.</a:t>
            </a:r>
            <a:br/>
            <a:r>
              <a:t>• 🎯 Quando usar no Dev: Gravação de áudio de microfone em tempo real, processamento de sinal em Python, efeitos sonoros curtos em jogos.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Consolas"/>
              </a:defRPr>
            </a:pPr>
            <a:r>
              <a:t>.ogg (Vorbis / Opus)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Ogg Vorbis &amp; Opus Codec • Open Source &amp; Alta Eficiência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Formato aberto e livre de royalties. O codec Opus oferece clareza de voz fantástica mesmo em conexões lentas.</a:t>
            </a:r>
            <a:br/>
            <a:r>
              <a:t>• Compatibilidade: Excelente suporte no Linux, Android, navegadores modernos e motores de jogos (Godot, Unity).</a:t>
            </a:r>
            <a:br/>
            <a:r>
              <a:t>• 🎯 Quando usar no Dev: Trilhas sonoras em desenvolvimento de jogos (GameDev) e transmissões de voz em tempo real (WebRTC, Discord).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Consolas"/>
              </a:defRPr>
            </a:pPr>
            <a:r>
              <a:t>.aac / .m4a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Advanced Audio Coding • Compressão Moderna de Alta Fidelidade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Sucessor tecnológico do MP3. Entrega qualidade sonora superior ao MP3 mantendo o mesmo bitrate (ou menor).</a:t>
            </a:r>
            <a:br/>
            <a:r>
              <a:t>• Compatibilidade: Padrão nativo do ecossistema Apple (iOS/macOS), YouTube, streaming Spotify e Bluetooth moderno.</a:t>
            </a:r>
            <a:br/>
            <a:r>
              <a:t>• 🎯 Quando usar no Dev: Áudio integrado a vídeos MP4 para streaming web, apps móveis iOS e Android.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725912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8BDF8"/>
                </a:solidFill>
                <a:latin typeface="Consolas"/>
              </a:defRPr>
            </a:pPr>
            <a:r>
              <a:t>Exemplo HTML5 Web: &lt;audio controls&gt;&lt;source src='musica.mp3' type='audio/mpeg'&gt;&lt;source src='musica.ogg' type='audio/ogg'&gt;&lt;/audio&gt;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5 de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87171"/>
                </a:solidFill>
                <a:latin typeface="Segoe UI"/>
              </a:defRPr>
            </a:pPr>
            <a:r>
              <a:t>VÍDEO &amp; STREAMING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Extensões de Vídeo: Containers e Codecs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Entenda a diferença entre o arquivo 'container' e os dados de compressão de imagem/som.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7171"/>
                </a:solidFill>
                <a:latin typeface="Consolas"/>
              </a:defRPr>
            </a:pPr>
            <a:r>
              <a:t>.mp4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MPEG-4 Part 14 • O Padrão Universal da Indústria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Container mais compatível do mundo. Geralmente codificado com vídeo H.264 (ou H.265/HEVC) e áudio AAC.</a:t>
            </a:r>
            <a:br/>
            <a:r>
              <a:t>• Vantagem Dev: Roda em qualquer navegador (Chrome, Safari, Firefox, Edge) e dispositivos antigos sem requerer plugins.</a:t>
            </a:r>
            <a:br/>
            <a:r>
              <a:t>• 🎯 Quando usar: Vídeos institucionais, players em HTML5 (&lt;video&gt;), feeds sociais e streaming de mídia web.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.webm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WebM Project (Google / Open Source) • Otimizado para a Web Moderna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Container baseado em Matroska projetado especificamente para HTML5, usando codecs de vídeo VP8, VP9 ou AV1.</a:t>
            </a:r>
            <a:br/>
            <a:r>
              <a:t>• Vantagem Dev: Código aberto e livre de royalties. Entrega altíssima qualidade visual com arquivos incrivelmente leves.</a:t>
            </a:r>
            <a:br/>
            <a:r>
              <a:t>• 🎯 Quando usar: Vídeos de fundo (hero backgrounds em sites), animações ricas e vídeos de alta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Consolas"/>
              </a:defRPr>
            </a:pPr>
            <a:r>
              <a:t>.mkv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Matroska Video Container • O Canivete Suíço dos Containers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Container flexível e aberto capaz de encapsular praticamente qualquer combinação de codecs de áudio, vídeo e texto.</a:t>
            </a:r>
            <a:br/>
            <a:r>
              <a:t>• Vantagem Dev: Suporta múltiplas faixas de áudio, múltiplas legendas embutidas e capítulos em um único arquivo.</a:t>
            </a:r>
            <a:br/>
            <a:r>
              <a:t>• 🎯 Quando usar: Armazenamento de gravações originais (OBS Studio), arquivos de backup e bibliotecas de mídia local (Plex/Jellyfin).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Consolas"/>
              </a:defRPr>
            </a:pPr>
            <a:r>
              <a:t>.mov / .avi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QuickTime &amp; Audio Video Interleave • Formatos Especializados &amp; Legados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.mov é o formato nativo da Apple (ótimo com ProRes e canal alfa). .avi é o formato clássico dos anos 90 da Microsoft.</a:t>
            </a:r>
            <a:br/>
            <a:r>
              <a:t>• Vantagem Dev: .mov permite transparência em vídeos (ótimo para overlays de streamers e animações com fundo transparente).</a:t>
            </a:r>
            <a:br/>
            <a:r>
              <a:t>• 🎯 Quando usar: .mov na edição e exportação de vídeo; evite .avi em projetos web modernos devido ao peso elevado.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725912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💡 Regra de Ouro: A extensão (.mp4) é só a 'caixa'. O que define compatibilidade é o CODEC (H.264/AAC é o par mais seguro).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6 de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COMPACTAÇÃO &amp; PACOTES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Compressores e Arquivamento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Agrupe centenas de arquivos em um só pacote reduzindo tráfego de rede e consumo de disco.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.zip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ZIP Archive • Universal &amp; Nativo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Padrão mais tradicional. Suportado nativamente pelo Windows Explorer, macOS Finder e Linux sem instalar nenhum software extra.</a:t>
            </a:r>
            <a:br/>
            <a:r>
              <a:t>• 🎯 Uso no Dev: Distribuição de templates, downloads simples para usuários finais e exportação de backups gerais.</a:t>
            </a:r>
            <a:br/>
            <a:r>
              <a:t>• 💻 No PowerShell: Compress-Archive -Path ./app -DestinationPath app.zip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Consolas"/>
              </a:defRPr>
            </a:pPr>
            <a:r>
              <a:t>.tar.gz / .tgz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Tape Archive + Gzip • O Padrão Absoluto do Mundo Linux &amp; Dev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O .tar junta múltiplos arquivos e diretórios em um arquivo contínuo; o .gz comprime esse arquivo usando o algoritmo Gzip.</a:t>
            </a:r>
            <a:br/>
            <a:r>
              <a:t>• 🎯 Uso no Dev: Pacotes do ecossistema NPM (.tgz), imagens Docker, releases de código no GitHub e deploys em servidores Linux.</a:t>
            </a:r>
            <a:br/>
            <a:r>
              <a:t>• 💻 Compactar: tar -czvf pacote.tar.gz pasta/  |  Extrair: tar -xzvf pacote.tar.gz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Consolas"/>
              </a:defRPr>
            </a:pPr>
            <a:r>
              <a:t>.7z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7-Zip Compressed File • Altíssima Taxa de Compressão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Usa o algoritmo LZMA/LZMA2. Consegue taxas de compressão muito superiores ao ZIP tradicional.</a:t>
            </a:r>
            <a:br/>
            <a:r>
              <a:t>• 🎯 Uso no Dev: Backups de grandes bases de dados SQL, compactação de builds locais pesadas e distribuição de jogos independentes.</a:t>
            </a:r>
            <a:br/>
            <a:r>
              <a:t>• 💻 Requer utilitário 7-Zip ou p7zip instalado no terminal.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7171"/>
                </a:solidFill>
                <a:latin typeface="Consolas"/>
              </a:defRPr>
            </a:pPr>
            <a:r>
              <a:t>.rar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Roshal Archive • Formato Proprietário Popular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Criado pela RARLAB. Muito comum em downloads na web e fóruns, com suporte a divisão em partes (.part1.rar).</a:t>
            </a:r>
            <a:br/>
            <a:r>
              <a:t>• 🎯 Atenção Dev: Por ser proprietário, muitos servidores Linux e ferramentas de automação não conseguem descompactar sem instalar pacotes non-free.</a:t>
            </a:r>
            <a:br/>
            <a:r>
              <a:t>• 💻 Em projetos e código, prefira sempre .zip ou .tar.gz para evitar problemas em pipelines automatizados.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725912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💡 Para pipelines de CI/CD e servidores em nuvem, prefira sempre .tar.gz para preservar permissões de arquivos Linux!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7 de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DESENVOLVIMENTO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 Trio Front-End e Extensões Modernas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espinha dorsal de qualquer página ou aplicação que roda no navegador.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87171"/>
                </a:solidFill>
                <a:latin typeface="Consolas"/>
              </a:defRPr>
            </a:pPr>
            <a:r>
              <a:t>Estrutura (HTML)  •  .html / .htm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HyperText Markup Language</a:t>
            </a:r>
          </a:p>
          <a:p>
            <a:pPr>
              <a:spcBef>
                <a:spcPts val="300"/>
              </a:spcBef>
              <a:defRPr sz="919">
                <a:solidFill>
                  <a:srgbClr val="CBD5E1"/>
                </a:solidFill>
                <a:latin typeface="Segoe UI"/>
              </a:defRPr>
            </a:pPr>
            <a:r>
              <a:t>O esqueleto da página web. Define a estrutura de tags (cabeçalhos, parágrafos, botões, formulários e divs) interpretada diretamente pelo navegador.</a:t>
            </a:r>
            <a:br/>
            <a:br/>
            <a:r>
              <a:t>Variações modernas:</a:t>
            </a:r>
            <a:br/>
            <a:r>
              <a:t>• .htm: Legado dos tempos de nomes de arquivo 8.3 do DOS. Evite hoje.</a:t>
            </a:r>
            <a:br/>
            <a:r>
              <a:t>• Motores de template: .ejs, .pug, .blade.php, .twig para gerar HTML dinâmico no servidor.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onsolas"/>
              </a:defRPr>
            </a:pPr>
            <a:r>
              <a:t>Estilização (CSS)  •  .css / .scss / .sass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Cascading Style Sheets &amp; Pré-processadores</a:t>
            </a:r>
          </a:p>
          <a:p>
            <a:pPr>
              <a:spcBef>
                <a:spcPts val="300"/>
              </a:spcBef>
              <a:defRPr sz="919">
                <a:solidFill>
                  <a:srgbClr val="CBD5E1"/>
                </a:solidFill>
                <a:latin typeface="Segoe UI"/>
              </a:defRPr>
            </a:pPr>
            <a:r>
              <a:t>Define as cores, fontes, layouts flexíveis (Flexbox, CSS Grid), animações e responsividade para telas móveis.</a:t>
            </a:r>
            <a:br/>
            <a:br/>
            <a:r>
              <a:t>Variações modernas:</a:t>
            </a:r>
            <a:br/>
            <a:r>
              <a:t>• .scss / .sass: Sintaxe avançada com variáveis, aninhamento e funções; compilado para .css comum.</a:t>
            </a:r>
            <a:br/>
            <a:r>
              <a:t>• .module.css: Escopo isolado de componentes em React e Vue.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Consolas"/>
              </a:defRPr>
            </a:pPr>
            <a:r>
              <a:t>Lógica Web (JS &amp; TS)  •  .js / .mjs / .ts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JavaScript &amp; TypeScript</a:t>
            </a:r>
          </a:p>
          <a:p>
            <a:pPr>
              <a:spcBef>
                <a:spcPts val="300"/>
              </a:spcBef>
              <a:defRPr sz="919">
                <a:solidFill>
                  <a:srgbClr val="CBD5E1"/>
                </a:solidFill>
                <a:latin typeface="Segoe UI"/>
              </a:defRPr>
            </a:pPr>
            <a:r>
              <a:t>Dá vida e interatividade à página: manipula o DOM, faz requisições HTTP a APIs e processa dados.</a:t>
            </a:r>
            <a:br/>
            <a:br/>
            <a:r>
              <a:t>Variações modernas:</a:t>
            </a:r>
            <a:br/>
            <a:r>
              <a:t>• .mjs: Módulos ES6 nativos com import / export.</a:t>
            </a:r>
            <a:br/>
            <a:r>
              <a:t>• .ts: TypeScript, adicionando tipagem estática que previne 80% dos bugs em tempo de desenvolvimento.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onsolas"/>
              </a:defRPr>
            </a:pPr>
            <a:r>
              <a:t>Componentes UI  •  .jsx / .tsx / .vue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Sintaxes de Frameworks Modernos</a:t>
            </a:r>
          </a:p>
          <a:p>
            <a:pPr>
              <a:spcBef>
                <a:spcPts val="300"/>
              </a:spcBef>
              <a:defRPr sz="919">
                <a:solidFill>
                  <a:srgbClr val="CBD5E1"/>
                </a:solidFill>
                <a:latin typeface="Segoe UI"/>
              </a:defRPr>
            </a:pPr>
            <a:r>
              <a:t>Permite escrever HTML e lógica JavaScript/TypeScript de forma unificada dentro de componentes reutilizáveis.</a:t>
            </a:r>
            <a:br/>
            <a:br/>
            <a:r>
              <a:t>Onde é utilizado:</a:t>
            </a:r>
            <a:br/>
            <a:r>
              <a:t>• .jsx / .tsx: React, Next.js, Solid.js.</a:t>
            </a:r>
            <a:br/>
            <a:r>
              <a:t>• .vue: Vue Single-File Components (template, script e style juntos).</a:t>
            </a:r>
            <a:br/>
            <a:r>
              <a:t>• .svelte: Sintaxe compilada reativa do Svelte.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725912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💡 O navegador só entende HTML, CSS e JS nativos. Arquivos como .ts, .tsx e .scss passam por um 'bundler' (Vite/Webpack) que os converte!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8 de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BACK-END &amp; LINGUAGENS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Linguagens de Servidor, Bancos de Dados e 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As extensões que constroem a inteligência por trás das APIs, sistemas e servidores.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Consolas"/>
              </a:defRPr>
            </a:pPr>
            <a:r>
              <a:t>.py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Python Script • Linguagem Interpretada Multiuso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Executado diretamente pelo interpretador (python app.py).</a:t>
            </a:r>
            <a:br/>
            <a:r>
              <a:t>🎯 Onde brilha: APIs modernas (FastAPI, Django), Inteligência Artificial, Machine Learning, automação de tarefas e Data Science.</a:t>
            </a:r>
            <a:br/>
            <a:r>
              <a:t>💡 Arquivos derivados: .pyc (bytecode compilado em cache), .ipynb (Jupyter Notebooks para experimentos).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A78BFA"/>
                </a:solidFill>
                <a:latin typeface="Consolas"/>
              </a:defRPr>
            </a:pPr>
            <a:r>
              <a:t>.php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PHP Hypertext Preprocessor • A Força da Web Tradicional e Dinâmica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Interpretado por servidores como Apache e Nginx com PHP-FPM.</a:t>
            </a:r>
            <a:br/>
            <a:r>
              <a:t>🎯 Onde brilha: Potencializa mais de 75% da web dinâmica do mundo! Presente em frameworks modernos (Laravel) e sistemas de conteúdo (WordPress).</a:t>
            </a:r>
            <a:br/>
            <a:r>
              <a:t>💡 Dica Dev: Pode misturar blocos de script com código HTML direto ou atuar como API REST headless.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91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6" y="1801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Consolas"/>
              </a:defRPr>
            </a:pPr>
            <a:r>
              <a:t>.java / .class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Java Source &amp; Bytecode • Compilação para a Máquina Virtual (JVM)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.java contém o código fonte que humanos escrevem; o compilador javac gera arquivos .class com bytecode.</a:t>
            </a:r>
            <a:br/>
            <a:r>
              <a:t>🎯 Onde brilha: Grandes sistemas corporativos, bancos, microsserviços com Spring Boot e apps Android nativos.</a:t>
            </a:r>
            <a:br/>
            <a:r>
              <a:t>💡 Pacote final: .jar (Java Archive) agrupa todas as classes e dependências para execução única.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Consolas"/>
              </a:defRPr>
            </a:pPr>
            <a:r>
              <a:t>.c / .cpp / .h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C &amp; C++ Source &amp; Headers • Linguagens Compiladas de Alto Desempenho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.c/.cpp são implementações; .h/.hpp são headers (declaração de funções e tipos).</a:t>
            </a:r>
            <a:br/>
            <a:r>
              <a:t>🎯 Onde brilha: Sistemas operacionais (Linux/Windows), engines de jogos (Unreal Engine), bancos de dados e sistemas embarcados (IoT).</a:t>
            </a:r>
            <a:br/>
            <a:r>
              <a:t>💡 Resultado final: Compilado para binários nativos executáveis (.exe no Windows ou ELF no Linux).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Consolas"/>
              </a:defRPr>
            </a:pPr>
            <a:r>
              <a:t>.sql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Structured Query Language • Comandos de Bancos de Dados Relacionais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Scripts de consulta e manipulação estruturada de bancos de dados.</a:t>
            </a:r>
            <a:br/>
            <a:r>
              <a:t>🎯 Onde brilha: Criação de tabelas (DDL), consultas complexas (SELECT/JOIN) e scripts de 'migrations' em Postgres, MySQL, SQLite e SQL Server.</a:t>
            </a:r>
            <a:br/>
            <a:r>
              <a:t>💡 Dica Dev: Mantenha sempre seus scripts .sql versionados no repositório de código.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3977640"/>
            <a:ext cx="3364992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4087368"/>
            <a:ext cx="2999232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60A5FA"/>
                </a:solidFill>
                <a:latin typeface="Consolas"/>
              </a:defRPr>
            </a:pPr>
            <a:r>
              <a:t>.sh / .bat / .ps1</a:t>
            </a:r>
          </a:p>
          <a:p>
            <a:pPr>
              <a:spcBef>
                <a:spcPts val="200"/>
              </a:spcBef>
              <a:defRPr sz="900" b="1">
                <a:solidFill>
                  <a:srgbClr val="F8FAFC"/>
                </a:solidFill>
                <a:latin typeface="Segoe UI"/>
              </a:defRPr>
            </a:pPr>
            <a:r>
              <a:t>Shell &amp; Batch Scripts • Automação de Linha de Comando</a:t>
            </a:r>
          </a:p>
          <a:p>
            <a:pPr>
              <a:spcBef>
                <a:spcPts val="300"/>
              </a:spcBef>
              <a:defRPr sz="850">
                <a:solidFill>
                  <a:srgbClr val="CBD5E1"/>
                </a:solidFill>
                <a:latin typeface="Segoe UI"/>
              </a:defRPr>
            </a:pPr>
            <a:r>
              <a:t>.sh: Scripts Bash para Linux/macOS.  |  .bat / .cmd: Scripts clássicos do MS-DOS/Windows.  |  .ps1: Scripts avançados do PowerShell.</a:t>
            </a:r>
            <a:br/>
            <a:r>
              <a:t>🎯 Onde brilha: Automação de tarefas locais, scripts de build, deploy em servidores e pipelines de CI/CD.</a:t>
            </a:r>
            <a:br/>
            <a:r>
              <a:t>💡 Dica Dev: No Linux, scripts .sh precisam de permissão de execução (chmod +x script.sh).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9 de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87171"/>
                </a:solidFill>
                <a:latin typeface="Segoe UI"/>
              </a:defRPr>
            </a:pPr>
            <a:r>
              <a:t>ARQUIVOS ESPECIAIS &amp; CONFIGURAÇÃO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Os Arquivos que Todo Desenvolvedor Precisa Dominar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Eles começam com ponto ou controlam o fluxo de trabalho do Git, segurança e dependências.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7171"/>
                </a:solidFill>
                <a:latin typeface="Consolas"/>
              </a:defRPr>
            </a:pPr>
            <a:r>
              <a:t>.env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Environment Variables • Segredos, Chaves de API e Conexões</a:t>
            </a:r>
          </a:p>
          <a:p>
            <a:pPr>
              <a:spcBef>
                <a:spcPts val="400"/>
              </a:spcBef>
              <a:defRPr sz="930">
                <a:solidFill>
                  <a:srgbClr val="CBD5E1"/>
                </a:solidFill>
                <a:latin typeface="Segoe UI"/>
              </a:defRPr>
            </a:pPr>
            <a:r>
              <a:t>• O que é: Arquivo de texto simples no formato CHAVE=VALOR que define variáveis de ambiente locais (ex: DATABASE_URL, STRIPE_SECRET_KEY, PORT).</a:t>
            </a:r>
            <a:br/>
            <a:r>
              <a:t>• ⚠️ REGRA DE OURO: NUNCA, JAMAIS adicione o .env no GitHub ou repositório público! Subir chaves expõe seu projeto a hackers em poucos segundos.</a:t>
            </a:r>
            <a:br/>
            <a:r>
              <a:t>• 💡 Boa prática: Crie um arquivo .env.example sem senhas reais para servir de modelo para outros membros da equipe.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onsolas"/>
              </a:defRPr>
            </a:pPr>
            <a:r>
              <a:t>.gitignore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Regras de Exclusão do Git • Mantenha seu Repositório Limpo</a:t>
            </a:r>
          </a:p>
          <a:p>
            <a:pPr>
              <a:spcBef>
                <a:spcPts val="400"/>
              </a:spcBef>
              <a:defRPr sz="930">
                <a:solidFill>
                  <a:srgbClr val="CBD5E1"/>
                </a:solidFill>
                <a:latin typeface="Segoe UI"/>
              </a:defRPr>
            </a:pPr>
            <a:r>
              <a:t>• O que é: Arquivo que lista padrões de nomes de arquivos e diretórios que o Git deve ignorar sumariamente e não rastrear.</a:t>
            </a:r>
            <a:br/>
            <a:r>
              <a:t>• O que colocar nele: • Pastas de dependências: node_modules/, venv/, vendor/</a:t>
            </a:r>
            <a:br/>
            <a:r>
              <a:t>• Builds geradas: /dist, /build, *.exe</a:t>
            </a:r>
            <a:br/>
            <a:r>
              <a:t>• Variáveis secretas: .env</a:t>
            </a:r>
            <a:br/>
            <a:r>
              <a:t>• Arquivos de SO: .DS_Store, Thumbs.db</a:t>
            </a:r>
            <a:br/>
            <a:r>
              <a:t>• 💡 Dica Dev: Use o site gitignore.io para gerar templates completos para sua linguagem ou framework com 1 clique.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Consolas"/>
              </a:defRPr>
            </a:pPr>
            <a:r>
              <a:t>.lock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Lockfiles de Dependências • Garantia de Builds Reproduzíveis</a:t>
            </a:r>
          </a:p>
          <a:p>
            <a:pPr>
              <a:spcBef>
                <a:spcPts val="400"/>
              </a:spcBef>
              <a:defRPr sz="930">
                <a:solidFill>
                  <a:srgbClr val="CBD5E1"/>
                </a:solidFill>
                <a:latin typeface="Segoe UI"/>
              </a:defRPr>
            </a:pPr>
            <a:r>
              <a:t>• Exemplos: package-lock.json (npm), yarn.lock, poetry.lock (Python), Gemfile.lock (Ruby), composer.lock (PHP).</a:t>
            </a:r>
            <a:br/>
            <a:r>
              <a:t>• Por que existe: Registra o hash exato e a versão precisa de cada biblioteca instalada e suas sub-dependências.</a:t>
            </a:r>
            <a:br/>
            <a:r>
              <a:t>• 💡 Boa prática: Ao contrário do .env, o arquivo .lock DEVE ser enviado para o repositório Git para garantir que o projeto funcione igual na máquina de todos.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Consolas"/>
              </a:defRPr>
            </a:pPr>
            <a:r>
              <a:t>.log</a:t>
            </a:r>
          </a:p>
          <a:p>
            <a:pPr>
              <a:spcBef>
                <a:spcPts val="2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Arquivos de Registro (Logs) • Diagnóstico e Rastreamento de Erros</a:t>
            </a:r>
          </a:p>
          <a:p>
            <a:pPr>
              <a:spcBef>
                <a:spcPts val="400"/>
              </a:spcBef>
              <a:defRPr sz="930">
                <a:solidFill>
                  <a:srgbClr val="CBD5E1"/>
                </a:solidFill>
                <a:latin typeface="Segoe UI"/>
              </a:defRPr>
            </a:pPr>
            <a:r>
              <a:t>• O que é: Arquivos de texto contínuo gerados por servidores, bancos e aplicações registrando eventos com carimbo de data/hora (timestamp).</a:t>
            </a:r>
            <a:br/>
            <a:r>
              <a:t>• Como o dev usa: Quando o sistema dá erro 500 ou quebra inesperadamente, o arquivo de log revela exatamente em qual linha e função o erro ocorreu.</a:t>
            </a:r>
            <a:br/>
            <a:r>
              <a:t>• 💡 Dica de terminal: No Linux/Mac/Git Bash: use tail -f server.log para acompanhar os logs sendo gerados ao vivo!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97880"/>
            <a:ext cx="10725912" cy="45720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🔒 Regra de Segurança: Sempre configure seu .gitignore ANTES de dar o primeiro 'git add .' no projeto!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10 de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BOAS PRÁTICAS &amp;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Convenções e Armadilhas Comuns para Evitar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Erros clássicos que iniciantes cometem e como pensar como um desenvolvedor experiente.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Nomenclatura sem Espaços ou Acentos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O Erro Clássico: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  <a:latin typeface="Segoe UI"/>
              </a:defRPr>
            </a:pPr>
            <a:r>
              <a:t>Salvar arquivos como 'Minha Foto de Férias (1)!.png' ou 'código principal.js'.</a:t>
            </a:r>
            <a:br/>
            <a:br/>
            <a:r>
              <a:t>Por que é ruim:</a:t>
            </a:r>
            <a:br/>
            <a:r>
              <a:t>Espaços viram %20 em URLs na web, quebram comandos em terminais Bash/PowerShell e geram bugs em servidores Linux case-sensitive.</a:t>
            </a:r>
            <a:br/>
            <a:br/>
            <a:r>
              <a:t>✅ Como fazer:</a:t>
            </a:r>
            <a:br/>
            <a:r>
              <a:t>Use kebab-case (minha-foto.png) ou snake_case (meu_script.py). Mantenha tudo em minúsculas e sem acentuação.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80136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2. Entenda os MIME Types (HTTP)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A Extensão Não Faz Tudo: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  <a:latin typeface="Segoe UI"/>
              </a:defRPr>
            </a:pPr>
            <a:r>
              <a:t>Em aplicações web e APIs, o servidor deve enviar o cabeçalho Content-Type correto para o navegador saber como renderizar.</a:t>
            </a:r>
            <a:br/>
            <a:br/>
            <a:r>
              <a:t>Exemplos fundamentais:</a:t>
            </a:r>
            <a:br/>
            <a:r>
              <a:t>• application/json para endpoints de API REST</a:t>
            </a:r>
            <a:br/>
            <a:r>
              <a:t>• text/html para páginas web estruturadas</a:t>
            </a:r>
            <a:br/>
            <a:r>
              <a:t>• image/webp ou image/png para imagens</a:t>
            </a:r>
            <a:br/>
            <a:br/>
            <a:r>
              <a:t>💡 Dica: Se o servidor enviar um JS como text/plain, navegadores modernos podem bloquear a execução por segurança!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Segoe UI"/>
              </a:defRPr>
            </a:pPr>
            <a:r>
              <a:t>3. A Armadilha das Extensões Duplas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Segurança e Engenharia Social: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  <a:latin typeface="Segoe UI"/>
              </a:defRPr>
            </a:pPr>
            <a:r>
              <a:t>Criminosos frequentemente enviam arquivos maliciosos nomeados como 'relatorio_financeiro.pdf.exe'.</a:t>
            </a:r>
            <a:br/>
            <a:br/>
            <a:r>
              <a:t>O Perigo:</a:t>
            </a:r>
            <a:br/>
            <a:r>
              <a:t>Se o seu sistema operacional estiver configurado para 'ocultar extensões conhecidas', o Windows mostrará apenas 'relatorio_financeiro.pdf' com o ícone de PDF!</a:t>
            </a:r>
            <a:br/>
            <a:br/>
            <a:r>
              <a:t>🛡️ Prevenção:</a:t>
            </a:r>
            <a:br/>
            <a:r>
              <a:t>Nunca confie apenas no ícone do arquivo. Observe a coluna 'Tipo' no explorador de arquivos.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3931920"/>
            <a:ext cx="5193792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4041648"/>
            <a:ext cx="4736592" cy="1837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4. Arquivos Minificados (.min.js, .min.css)</a:t>
            </a:r>
          </a:p>
          <a:p>
            <a:pPr>
              <a:spcBef>
                <a:spcPts val="200"/>
              </a:spcBef>
              <a:defRPr sz="950" b="1">
                <a:solidFill>
                  <a:srgbClr val="F8FAFC"/>
                </a:solidFill>
                <a:latin typeface="Segoe UI"/>
              </a:defRPr>
            </a:pPr>
            <a:r>
              <a:t>Performance e Otimização Web:</a:t>
            </a:r>
          </a:p>
          <a:p>
            <a:pPr>
              <a:spcBef>
                <a:spcPts val="300"/>
              </a:spcBef>
              <a:defRPr sz="880">
                <a:solidFill>
                  <a:srgbClr val="CBD5E1"/>
                </a:solidFill>
                <a:latin typeface="Segoe UI"/>
              </a:defRPr>
            </a:pPr>
            <a:r>
              <a:t>Em ambiente de produção, bibliotecas e frameworks disponibilizam versões minificadas.</a:t>
            </a:r>
            <a:br/>
            <a:br/>
            <a:r>
              <a:t>Como funciona:</a:t>
            </a:r>
            <a:br/>
            <a:r>
              <a:t>Ferramentas de build removem todos os espaços, quebras de linha, comentários e encurtam nomes de variáveis internas.</a:t>
            </a:r>
            <a:br/>
            <a:br/>
            <a:r>
              <a:t>Resultado:</a:t>
            </a:r>
            <a:br/>
            <a:r>
              <a:t>Reduz o tamanho do arquivo em até 70%, acelerando o carregamento da página para o usuário final.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11 de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292608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34D399"/>
                </a:solidFill>
                <a:latin typeface="Segoe UI"/>
              </a:defRPr>
            </a:pPr>
            <a:r>
              <a:t>RESUMO &amp; CHEATSHEET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 Que Usar em Cada Situação? (Guia Rápido de Decisão)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Consulte esta tabela rápida sempre que estiver em dúvida sobre qual formato escolher.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259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5513832"/>
              </a:tblGrid>
              <a:tr h="5617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Cenário ou Necessidade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Extensão Recomendada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Por que é a melhor escolha?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Ícones e logos na Web sem perder resolução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.svg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Formato vetorial XML, zoom infinito, levíssimo e manipulável por CSS/JS.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Imagens e banners de alta performance em sites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.webp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25-35% mais leve que PNG/JPG, com excelente qualidade e suporte a canal alfa.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Transferência de dados entre APIs e Front-end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.json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Padrão absoluto da indústria web, chave-valor simples e universal.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Documentação de repositório no GitHub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.md (Markdown)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Legível em texto puro e renderizado com formatação visual rica no GitHub.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Empacotamento de código e deploy em servidores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.tar.gz ou .zip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.tar.gz preserva atributos Unix/Linux; .zip funciona em qualquer SO nativo.</a:t>
                      </a:r>
                    </a:p>
                  </a:txBody>
                  <a:tcPr>
                    <a:solidFill>
                      <a:srgbClr val="131C2E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Código de páginas web modernas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.tsx / .ts / .jsx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TypeScript garante segurança de tipos e prevenção de erros em tempo de código.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5806440"/>
            <a:ext cx="10725912" cy="54864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8FAFC"/>
                </a:solidFill>
                <a:latin typeface="Segoe UI"/>
              </a:defRPr>
            </a:pPr>
            <a:r>
              <a:t>🚀 Parabéns por dar esse passo! Dominar as extensões é o primeiro passo para uma carreira de dev sem bugs inesperados.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Extensões de Arquivos para Desenvolvedores  |  Slide 12 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