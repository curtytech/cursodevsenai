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950" y="2184201"/>
            <a:ext cx="3086100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40555" y="2755701"/>
            <a:ext cx="7110888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0" sz="4350" i="0" u="none">
                <a:solidFill>
                  <a:srgbClr val="FFFFFF"/>
                </a:solidFill>
                <a:latin typeface="Poppins ExtraBold"/>
              </a:rPr>
              <a:t>Linguagens, Bibliotecas</a:t>
            </a:r>
            <a:r>
              <a:t>
</a:t>
            </a:r>
            <a:r>
              <a:rPr b="0" sz="4350" i="0" u="none">
                <a:solidFill>
                  <a:srgbClr val="FFFFFF"/>
                </a:solidFill>
                <a:latin typeface="Poppins ExtraBold"/>
              </a:rPr>
              <a:t> e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5062" y="4359473"/>
            <a:ext cx="73818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Compreendendo o Ecossistema de Desenvolvimento de Software Moderno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925" y="2288976"/>
            <a:ext cx="1809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4714"/>
            <a:ext cx="3524250" cy="26056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74714"/>
            <a:ext cx="3524250" cy="26056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474714"/>
            <a:ext cx="3524250" cy="26056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69989"/>
            <a:ext cx="619125" cy="61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579614"/>
            <a:ext cx="25003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Diferenciar Conceitos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008239"/>
            <a:ext cx="30289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Entender com clareza as diferenças fundamentais entre Linguagem de Programação, Biblioteca e Framework.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769989"/>
            <a:ext cx="619125" cy="619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579614"/>
            <a:ext cx="259032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Explorar Ecossistemas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4008239"/>
            <a:ext cx="30289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Conhecer as tecnologias mais exigidas para Desenvolvimento Web, Backend e Mobile no mercado atual.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769989"/>
            <a:ext cx="619125" cy="619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579614"/>
            <a:ext cx="255031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Conectar Tecnologias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4008239"/>
            <a:ext cx="30289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Visualizar como essas ferramentas se conectam em um projeto real e montar uma trilha clara de estudos.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2908101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5825" y="2908101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2012" y="2908101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Objetivos da Aula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188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51880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A Base da Comunicação Humano-Computador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80505"/>
            <a:ext cx="53340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Uma linguagem de programação é um conjunto formal de regras, sintaxes e instruções utilizadas para orientar a execução de tarefas pelo computador.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61405"/>
            <a:ext cx="53149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125" y="3328838"/>
            <a:ext cx="4905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Sintaxe e Gramática: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Regras estritas de escrita e estrutura.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812678"/>
            <a:ext cx="4905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Compilação ou Interpretação: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Tradução para código de máquina (ex: C++, Rust) ou interpretação em tempo de execução (ex: Python, JS).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845099"/>
            <a:ext cx="4905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Exemplos Clássicos: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JavaScript, Python, C#, Java, PHP, Rust.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52651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36491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68912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O que é uma Linguagem?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3360"/>
            <a:ext cx="11049000" cy="52083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070127"/>
            <a:ext cx="110490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1" u="none">
                <a:solidFill>
                  <a:srgbClr val="94A3B8"/>
                </a:solidFill>
                <a:latin typeface="Inter"/>
              </a:rPr>
              <a:t>Fonte: Stack Overflow Developer Survey (Visualização comparativa de adoção global por desenvolvedores).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Linguagens Mais Usadas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1326"/>
            <a:ext cx="5334000" cy="34724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41326"/>
            <a:ext cx="5334000" cy="3472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84226"/>
            <a:ext cx="4880610" cy="31432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Biblioteca (Library)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12851"/>
            <a:ext cx="4648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Coleção de funções e código reutilizável para resolver problemas específicos.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384226"/>
            <a:ext cx="4880610" cy="314325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812851"/>
            <a:ext cx="4648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Estrutura completa e padronizada que dita a arquitetura da aplicação.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31851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431851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3025" y="3445073"/>
            <a:ext cx="42195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Controle: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O desenvolvedor chama a biblioteca quando precisa.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3025" y="4203203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Flexibilidade: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Baixa imposição estrutural.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3025" y="4687044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Exemplos: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React, Axios, Lodash, Pandas.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3445073"/>
            <a:ext cx="42195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Inversão de Controle: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O framework chama o seu código.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4203203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Opiniado: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Define regras rígidas de organização.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4687044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Exemplos: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Angular, Next.js, Django, Laravel.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468885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27016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710856"/>
            <a:ext cx="2095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468885"/>
            <a:ext cx="20955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227016"/>
            <a:ext cx="209550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710856"/>
            <a:ext cx="209550" cy="2190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Biblioteca ×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5233"/>
            <a:ext cx="3524250" cy="28646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45233"/>
            <a:ext cx="3524250" cy="28646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345233"/>
            <a:ext cx="3524250" cy="28646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640508"/>
            <a:ext cx="619125" cy="61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450133"/>
            <a:ext cx="204025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Linguagem Única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78758"/>
            <a:ext cx="302895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Com o JavaScript, é possível desenvolver Frontend (Navegador), Backend (Node.js) e Mobile (React Native) com uma só linguagem.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640508"/>
            <a:ext cx="619125" cy="619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450133"/>
            <a:ext cx="172021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NPM &amp; Pacotes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878758"/>
            <a:ext cx="30289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O maior ecossistema de módulos do mundo, permitindo integrar soluções prontas com comandos simples.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640508"/>
            <a:ext cx="619125" cy="619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450133"/>
            <a:ext cx="251031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Comunidade Gigante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78758"/>
            <a:ext cx="302895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Amplo suporte do mercado, documentação rica, atualizações constantes e altíssima demanda de contratação.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2778621"/>
            <a:ext cx="3048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6775" y="2778621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9150" y="2778621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O Ecossistema JavaScript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7805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A Linguagem Nativa dos Navegadores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96430"/>
            <a:ext cx="5334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Nascido para dar vida às páginas estáticas, o JS hoje é um gigante dinâmico e essencial para a Web moderna.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77330"/>
            <a:ext cx="53149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125" y="3057227"/>
            <a:ext cx="4905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Manipulação de DOM: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Altera elementos da tela em tempo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815357"/>
            <a:ext cx="4905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Assincronismo: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Requisições via Promises e async/await sem travar a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573488"/>
            <a:ext cx="4905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Linguagem Interpretada: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Executada diretamente no V8 / motores web.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81039"/>
            <a:ext cx="1809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39170"/>
            <a:ext cx="18097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97300"/>
            <a:ext cx="18097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JavaScript: A Base da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809875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Superset do JavaScript: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Todo código JS válido é código TS válido. Ele adiciona tipagem estática opcional sobre o JS.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293715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Prevenção de Erros no Build: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Detecta falhas de lógica e de dados durante o desenvolvimento, antes de ir para produção.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777555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Autocomplete Avançado: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Proporciona autocompletion perfeito e refatoração segura em IDEs como VS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261395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Padrão da Indústria: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Adotado obrigatoriamente por grandes empresas para projetos de grande porte.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3687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17527"/>
            <a:ext cx="26670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01367"/>
            <a:ext cx="18097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85208"/>
            <a:ext cx="1619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TypeScript: Tipagem Forte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2031"/>
            <a:ext cx="4267200" cy="2190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072556"/>
            <a:ext cx="36766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b="0" sz="6750" i="0" u="none">
                <a:solidFill>
                  <a:srgbClr val="38BDF8"/>
                </a:solidFill>
                <a:latin typeface="Poppins ExtraBold"/>
              </a:rP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025056"/>
            <a:ext cx="3676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Inter SemiBold"/>
              </a:rPr>
              <a:t>Biblioteca Frontend Mais Usada no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9700" y="2232719"/>
            <a:ext cx="672084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Desenvolvimento Declarativo e Reativo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9700" y="2661344"/>
            <a:ext cx="64008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Criado pelo Meta (Facebook), o React revolucionou a criação de interfaces com o conceito de Componentes isolados e reutilizáveis.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8325" y="3322141"/>
            <a:ext cx="59721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Virtual DOM: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Atualizações ultrarrápidas renderizando apenas o que mudou.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8325" y="4080271"/>
            <a:ext cx="5972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Sintaxe JSX: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União elegante de HTML e JavaScript no mesmo arquivo.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8325" y="4564112"/>
            <a:ext cx="59721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React Hooks: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Gerenciamento simples de estado e ciclo de vida do componente.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3345953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4104084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4587924"/>
            <a:ext cx="20955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React: UI em Componentes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5650706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React Native no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915840"/>
            <a:ext cx="58007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Aplicações Nativas para iOS e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344465"/>
            <a:ext cx="55245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Com o React Native, escrevemos código em JavaScript/TypeScript e renderizamos componentes nativos nativos no dispositivo móvel.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62387"/>
            <a:ext cx="55245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Vantagem Estratégica: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Um único código-fonte abastece as lojas App Store e Google Play, reduzindo custos de desenvolvimento e tempo de lançamento.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1901"/>
            <a:ext cx="5334000" cy="18913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31901"/>
            <a:ext cx="5334000" cy="18913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74801"/>
            <a:ext cx="4880610" cy="3143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Server-Side Rendering (SSR)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03426"/>
            <a:ext cx="46482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O HTML é gerado no servidor a cada requisição, garantindo performance extrema e excelente indexação em motores de busca (SEO).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74801"/>
            <a:ext cx="4880610" cy="31432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Static Site Generation (SSG)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03426"/>
            <a:ext cx="46482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Páginas pré-compiladas no build que são servidas instantaneamente via CDN, trazendo máxima velocidade e segurança.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22426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222426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Next.js: Web Fullstack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9916"/>
            <a:ext cx="5334000" cy="26952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29916"/>
            <a:ext cx="5334000" cy="2695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72816"/>
            <a:ext cx="4880610" cy="31432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 Vue.js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1441"/>
            <a:ext cx="4648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Progressivo e Intuitivo: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Muito fácil de aprender e integrar em projetos existentes.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772816"/>
            <a:ext cx="4880610" cy="31432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 Angular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201441"/>
            <a:ext cx="4648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Framework Robusto (Google):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Solução completa "out of the box" para grandes corporações.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20441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820441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3025" y="3814613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Curva de aprendizado suave.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3025" y="4298453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Sintaxe limpa com Single File Components.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3814613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Uso nativo e obrigatório de TypeScript.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4298453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Injeção de dependências e arquitetura MVC.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38426"/>
            <a:ext cx="1333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322266"/>
            <a:ext cx="1333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838426"/>
            <a:ext cx="1333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322266"/>
            <a:ext cx="13335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Vue.js e Angular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357437"/>
            <a:ext cx="11049000" cy="2840087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357437"/>
          <a:ext cx="11039472" cy="2840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46052"/>
                <a:gridCol w="2289125"/>
                <a:gridCol w="3034158"/>
                <a:gridCol w="2770137"/>
              </a:tblGrid>
              <a:tr h="56801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Critério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React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Vue.js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Angular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801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Tipo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Biblioteca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Framework Progressivo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Framework Completo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801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Mantido por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Meta (Facebook)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Comunidade (Evan You)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Google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801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Curva de Aprendizado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Média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Baixa / Fácil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Alta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801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Linguagem Principal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JSX / TSX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HTML, JS/TS, CSS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TypeScript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936527"/>
            <a:ext cx="2946052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22315" y="2936527"/>
            <a:ext cx="228912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1440" y="2936527"/>
            <a:ext cx="3034158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45599" y="2936527"/>
            <a:ext cx="2770137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262" y="3508920"/>
            <a:ext cx="29460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2315" y="3508920"/>
            <a:ext cx="22891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1440" y="3508920"/>
            <a:ext cx="30341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45599" y="3508920"/>
            <a:ext cx="27701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262" y="4067026"/>
            <a:ext cx="29460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2315" y="4067026"/>
            <a:ext cx="22891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1440" y="4067026"/>
            <a:ext cx="30341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5599" y="4067026"/>
            <a:ext cx="27701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262" y="4625131"/>
            <a:ext cx="29460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2315" y="4625131"/>
            <a:ext cx="22891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1440" y="4625131"/>
            <a:ext cx="30341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45599" y="4625131"/>
            <a:ext cx="27701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React vs Vue vs Angular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7805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JavaScript Fora do Navegador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96430"/>
            <a:ext cx="5334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O Node.js permite executar JavaScript no lado do servidor utilizando o motor V8 do Google Chrome.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77330"/>
            <a:ext cx="53149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125" y="3057227"/>
            <a:ext cx="4905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Event-Driven &amp; Non-Blocking I/O: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Processa milhares de conexões concorrentes com eficiência.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815357"/>
            <a:ext cx="4905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Frameworks Express e NestJS: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Padrões para construção de APIs RESTful e GraphQL.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81039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39170"/>
            <a:ext cx="26670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Node.js e o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4714"/>
            <a:ext cx="3524250" cy="26056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74714"/>
            <a:ext cx="3524250" cy="26056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474714"/>
            <a:ext cx="3524250" cy="26056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69989"/>
            <a:ext cx="619125" cy="61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579614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008239"/>
            <a:ext cx="30289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Líder em Inteligência Artificial, Ciência de Dados e Automação. Frameworks: Django e FastAPI.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769989"/>
            <a:ext cx="619125" cy="619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579614"/>
            <a:ext cx="116014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Java / 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4008239"/>
            <a:ext cx="30289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Padrões consolidados do ecossistema corporativo e bancário. Frameworks: Spring Boot e .NET Core.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769989"/>
            <a:ext cx="619125" cy="619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579614"/>
            <a:ext cx="450056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4008239"/>
            <a:ext cx="30289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Movimenta quase 80% dos sites da Web. Potencializado pelo moderno framework Laravel e WordPress.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2908101"/>
            <a:ext cx="3048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0" y="2908101"/>
            <a:ext cx="25717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9150" y="2908101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Python, Java, C# e PHP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3172"/>
            <a:ext cx="5334000" cy="29886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83172"/>
            <a:ext cx="5334000" cy="29886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26072"/>
            <a:ext cx="4880610" cy="314325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Multiplataforma (Híbrido)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54697"/>
            <a:ext cx="464820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Desenvolvimento único com compilação para iOS e Android.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26072"/>
            <a:ext cx="4880610" cy="3143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Nativo Puro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54697"/>
            <a:ext cx="4648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Acesso direto e irrestrito às APIs nativas de cada sistema operacional.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73697"/>
            <a:ext cx="1619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673697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3025" y="3427958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React Native: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Usa JS/TS e componentes nativos.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3025" y="3911798"/>
            <a:ext cx="42195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Flutter (Dart):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Criado pelo Google, desenha a UI via Engine gráfica de alta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3686919"/>
            <a:ext cx="42195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Kotlin: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Linguagem oficial para Android (Google).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4170759"/>
            <a:ext cx="42195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Swift: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Linguagem oficial para iOS e ecossistema Apple.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451770"/>
            <a:ext cx="18097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35610"/>
            <a:ext cx="18097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710731"/>
            <a:ext cx="18097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194571"/>
            <a:ext cx="18097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Ecossistema Mobile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23950" y="3949005"/>
            <a:ext cx="99441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80" y="3077467"/>
            <a:ext cx="5715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61777" y="3839467"/>
            <a:ext cx="85010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oppins SemiBold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172842"/>
            <a:ext cx="24306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React / Next.js com TypeScript renderizam a interface do usuário.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760" y="3077467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64436" y="3839467"/>
            <a:ext cx="1190148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oppins SemiBold"/>
              </a:rPr>
              <a:t>API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4180" y="4172842"/>
            <a:ext cx="24306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Requisições HTTP/JSON enviadas de forma assíncrona.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441" y="3077467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27140" y="3839467"/>
            <a:ext cx="81010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oppins SemiBold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6860" y="4172842"/>
            <a:ext cx="24306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Node.js / NestJS ou Python processa as regras de negócio.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121" y="3077467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9813" y="3839467"/>
            <a:ext cx="93011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oppins SemiBold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541" y="4172842"/>
            <a:ext cx="24306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Banco de dados (PostgreSQL, MongoDB) armazena as informações.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292" y="3267967"/>
            <a:ext cx="2190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4260" y="3267967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6941" y="3267967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9146" y="3267967"/>
            <a:ext cx="17145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Integração em Projeto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809875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Fundamentos de Programação: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Lógica, Algoritmos, HTML5, CSS3 e JavaScript Moderno (ES6+).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293715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Especialização em Linguagem: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Domine TypeScript para elevar o nível de qualidade do código.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777555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Aprenda uma Biblioteca/Framework: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Domine React.js para Frontend ou Node.js para Backend.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261395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Ferramental do Mercado: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Git, GitHub, APIs RESTful, Docker e Bancos de Dados Relacionais.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3687"/>
            <a:ext cx="1047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17527"/>
            <a:ext cx="1333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01367"/>
            <a:ext cx="1333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85208"/>
            <a:ext cx="1619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Trilha de Estudos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1901"/>
            <a:ext cx="5334000" cy="18913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31901"/>
            <a:ext cx="5334000" cy="18913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74801"/>
            <a:ext cx="4880610" cy="3143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A Arte da Escolha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03426"/>
            <a:ext cx="46482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Escolha uma ideia de aplicativo (ex: Sistema de Agendamentos, E-commerce ou App de Finanças) e monte a Stack Tecnológica ideal.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74801"/>
            <a:ext cx="4880610" cy="3143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Justifique sua Decisão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03426"/>
            <a:ext cx="46482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Defina qual Linguagem, Biblioteca Frontend, Framework Backend e Banco de Dados utilizará, justificando o porquê de cada escolha.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22426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222426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Desafio Prático da Aula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25" y="3963292"/>
            <a:ext cx="3181350" cy="504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25816" y="2389882"/>
            <a:ext cx="2940367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oppins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0" y="3342382"/>
            <a:ext cx="342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Abertura para Dúvidas e Perguntas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134742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01468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99754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8231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9880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9880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7727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7727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5575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5575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322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15756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d3njjcbhbojbot.cloudfront.net/api/utilities/v1/imageproxy/https://images.ctfassets.net/wp1lcwdav1p1/NTzcs6i8gSHLytaTxzOKQ/835d64b5bd0278b4919c94f0bbf2d53e/GettyImages-2099216806.jpg?w=1500&amp;h=680&amp;q=60&amp;fit=fill&amp;f=faces&amp;fm=jpg&amp;fl=progressive&amp;auto=format%2Ccompress&amp;dpr=1&amp;w=1000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60136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www.coursera.org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4697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14042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https://miro.medium.com/v2/resize:fit:1400/1*oAhtoDdx6TFUIJ44M6B7kA.png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38613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31741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392519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https://engineersahabedu.com/wp-content/uploads/2024/06/mobile-ui.jpg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17090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engineersahabedu.com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15631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709963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https://substackcdn.com/image/fetch/$s_!6O4g!,f_auto,q_auto:good,fl_progressive:steep/https%3A%2F%2Fsubstack-post-media.s3.amazonaws.com%2Fpublic%2Fimages%2F056937a0-dfe8-434d-8d72-ef7f8af0ace7_1920x1080.png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15376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www.viksnewsletter.com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