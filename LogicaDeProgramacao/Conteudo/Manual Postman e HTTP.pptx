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Inter"/>
      <ns0:bold ns1:id="rIdFont15"/>
      <ns0:regular ns1:id="rIdFont16"/>
    </ns0:embeddedFont>
    <ns0:embeddedFont>
      <ns0:font typeface="Space Grotesk"/>
      <ns0:bold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175efb07-c920-445c-8bc3-80ac67fbccad.fntdata" /><ns0:Relationship Id="rIdFont16" Type="http://schemas.openxmlformats.org/officeDocument/2006/relationships/font" Target="fonts/14283691-94bf-42af-a534-7dfea8ddd053.fntdata" /><ns0:Relationship Id="rIdFont17" Type="http://schemas.openxmlformats.org/officeDocument/2006/relationships/font" Target="fonts/989bda23-ebbc-4b1b-aebb-4b8f9b19170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696717"/>
            <a:ext cx="1495425" cy="333375"/>
          </a:xfrm>
          <a:prstGeom prst="roundRect">
            <a:avLst>
              <a:gd name="adj" fmla="val 1714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57425" y="4696717"/>
            <a:ext cx="1504950" cy="333375"/>
          </a:xfrm>
          <a:prstGeom prst="roundRect">
            <a:avLst>
              <a:gd name="adj" fmla="val 1714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7907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801492"/>
            <a:ext cx="17145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350" y="4801492"/>
            <a:ext cx="171450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323207"/>
            <a:ext cx="8601075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Manual Prático de Postman &amp; 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87067"/>
            <a:ext cx="6572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Aprenda os conceitos essenciais do protocolo HTTP, métodos, parâmetros e autenticação na prática.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1861244"/>
            <a:ext cx="1440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6C37"/>
                </a:solidFill>
                <a:latin typeface="Space Grotesk"/>
              </a:rPr>
              <a:t>GUIA PRÁTICO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772917"/>
            <a:ext cx="12858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Inter"/>
              </a:rPr>
              <a:t>Testes de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9825" y="4772917"/>
            <a:ext cx="1295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Inter"/>
              </a:rPr>
              <a:t>REST Protocol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7604"/>
            <a:ext cx="5150494" cy="1817191"/>
          </a:xfrm>
          <a:prstGeom prst="roundRect">
            <a:avLst>
              <a:gd name="adj" fmla="val 62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64894" y="2671762"/>
            <a:ext cx="5517505" cy="733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4894" y="3519487"/>
            <a:ext cx="5517505" cy="733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4894" y="4367212"/>
            <a:ext cx="5517505" cy="733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64894" y="3395662"/>
            <a:ext cx="55175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4894" y="2671762"/>
            <a:ext cx="55175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64894" y="2671762"/>
            <a:ext cx="38100" cy="733425"/>
          </a:xfrm>
          <a:prstGeom prst="rect">
            <a:avLst/>
          </a:prstGeom>
          <a:solidFill>
            <a:srgbClr val="FF6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72875" y="2671762"/>
            <a:ext cx="9525" cy="7334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4894" y="4243387"/>
            <a:ext cx="55175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64894" y="3519487"/>
            <a:ext cx="55175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64894" y="3519487"/>
            <a:ext cx="38100" cy="7334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3519487"/>
            <a:ext cx="9525" cy="7334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64894" y="5091112"/>
            <a:ext cx="55175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4894" y="4367212"/>
            <a:ext cx="55175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64894" y="4367212"/>
            <a:ext cx="38100" cy="7334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72875" y="4367212"/>
            <a:ext cx="9525" cy="7334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53829"/>
            <a:ext cx="381000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358604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Grotesk"/>
              </a:rPr>
              <a:t>FUNDAMENTOS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Anatomia de uma Requisição HTTP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3787229"/>
            <a:ext cx="4693294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O Postman atua como cliente enviando mensagens padronizadas para o servidor e processando a resposta recebida.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1125" y="3330029"/>
            <a:ext cx="21752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Cliente &amp; Servidor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3494" y="2833687"/>
            <a:ext cx="589850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1. Método (Verbo)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3494" y="3062287"/>
            <a:ext cx="589850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Indica a ação desejada (GET, POST, PUT, DELETE).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3494" y="3681412"/>
            <a:ext cx="589850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2. Endpoint / 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3494" y="3910012"/>
            <a:ext cx="589850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O endereço exato do recurso no servidor.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3494" y="4529137"/>
            <a:ext cx="589850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3. Headers &amp; Payload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3494" y="4757737"/>
            <a:ext cx="589850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Metadados de contexto e dados enviados no corpo.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1287"/>
            <a:ext cx="5372100" cy="2486025"/>
          </a:xfrm>
          <a:prstGeom prst="roundRect">
            <a:avLst>
              <a:gd name="adj" fmla="val 45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681287"/>
            <a:ext cx="5372100" cy="2486025"/>
          </a:xfrm>
          <a:prstGeom prst="roundRect">
            <a:avLst>
              <a:gd name="adj" fmla="val 45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471987"/>
            <a:ext cx="474345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4625" y="4471987"/>
            <a:ext cx="474345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2995612"/>
            <a:ext cx="542925" cy="314325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24625" y="2995612"/>
            <a:ext cx="647700" cy="314325"/>
          </a:xfrm>
          <a:prstGeom prst="roundRect">
            <a:avLst>
              <a:gd name="adj" fmla="val 18181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5" y="305752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575" y="3057525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Grotesk"/>
              </a:rPr>
              <a:t>MÉTODOS PRINCIPAIS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GET &amp;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462337"/>
            <a:ext cx="62257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Consulta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6238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Usado para recuperar dados do servidor. Não altera o estado do recurso.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586287"/>
            <a:ext cx="4533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monospace"/>
              </a:rPr>
              <a:t>GET /api/v1/usuarios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462337"/>
            <a:ext cx="566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Criação de Recurso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86238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Envia dados no Body em formato JSON para cadastrar um novo registro.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4586287"/>
            <a:ext cx="4533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monospace"/>
              </a:rPr>
              <a:t>POST /api/v1/usuarios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3052762"/>
            <a:ext cx="3714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7975" y="305276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POST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1812"/>
            <a:ext cx="3530649" cy="1704975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071812"/>
            <a:ext cx="3530649" cy="1704975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71812"/>
            <a:ext cx="3530649" cy="1704975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3348037"/>
            <a:ext cx="428625" cy="247650"/>
          </a:xfrm>
          <a:prstGeom prst="roundRect">
            <a:avLst>
              <a:gd name="adj" fmla="val 1538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06974" y="3348037"/>
            <a:ext cx="581025" cy="247650"/>
          </a:xfrm>
          <a:prstGeom prst="roundRect">
            <a:avLst>
              <a:gd name="adj" fmla="val 15384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8124" y="3348037"/>
            <a:ext cx="657225" cy="247650"/>
          </a:xfrm>
          <a:prstGeom prst="roundRect">
            <a:avLst>
              <a:gd name="adj" fmla="val 15384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Grotesk"/>
              </a:rPr>
              <a:t>MODIFICAÇÃO &amp; REMOÇÃO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PUT, PATCH e DELETE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3386137"/>
            <a:ext cx="3333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Space Grotesk"/>
              </a:rPr>
              <a:t>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48087"/>
            <a:ext cx="390888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Atualização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71937"/>
            <a:ext cx="30734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Substitui completamente o recurso existente pelos novos dados informados.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2224" y="3386137"/>
            <a:ext cx="485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Space Grotesk"/>
              </a:rPr>
              <a:t>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6974" y="3748087"/>
            <a:ext cx="390888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Atualização Parcial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974" y="4071937"/>
            <a:ext cx="30734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Modifica apenas campos específicos do recurso sem alterar os demais.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3374" y="3386137"/>
            <a:ext cx="5619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Space Grotesk"/>
              </a:rPr>
              <a:t>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748087"/>
            <a:ext cx="3863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Exclusão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4071937"/>
            <a:ext cx="30734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Remove permanentemente o recurso especificado pelo identificador na URL.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9900"/>
            <a:ext cx="5353050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3005137"/>
            <a:ext cx="5353050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105275"/>
            <a:ext cx="4724400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43675" y="4100512"/>
            <a:ext cx="4724400" cy="428625"/>
          </a:xfrm>
          <a:prstGeom prst="roundRect">
            <a:avLst>
              <a:gd name="adj" fmla="val 177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43275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3338512"/>
            <a:ext cx="18097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Grotesk"/>
              </a:rPr>
              <a:t>CONFIGURAÇÃO DE REQUISIÇÃO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Parâmetros: Query vs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24275"/>
            <a:ext cx="5905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Servem para filtrar, ordenar ou paginar resultados na URL.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238625"/>
            <a:ext cx="4552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monospace"/>
              </a:rPr>
              <a:t>/produtos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?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categoria=tech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&amp;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limite=10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3719512"/>
            <a:ext cx="56483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Identificam um recurso específico no caminho do endpoint.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4233862"/>
            <a:ext cx="4552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monospace"/>
              </a:rPr>
              <a:t>/usuarios/</a:t>
            </a:r>
            <a:r>
              <a:rPr b="0" sz="1050" i="0" u="none">
                <a:solidFill>
                  <a:srgbClr val="F59E0B"/>
                </a:solidFill>
                <a:latin typeface="monospace"/>
              </a:rPr>
              <a:t>:id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→ /usuarios/</a:t>
            </a:r>
            <a:r>
              <a:rPr b="0" sz="1050" i="0" u="none">
                <a:solidFill>
                  <a:srgbClr val="F59E0B"/>
                </a:solidFill>
                <a:latin typeface="monospace"/>
              </a:rPr>
              <a:t>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3324225"/>
            <a:ext cx="19002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Query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8950" y="3319462"/>
            <a:ext cx="168771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Path Params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4187"/>
            <a:ext cx="5372100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890837"/>
            <a:ext cx="537210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4014787"/>
            <a:ext cx="4819650" cy="5334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86525" y="3881437"/>
            <a:ext cx="4819650" cy="800100"/>
          </a:xfrm>
          <a:prstGeom prst="roundRect">
            <a:avLst>
              <a:gd name="adj" fmla="val 71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19462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186112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Grotesk"/>
              </a:rPr>
              <a:t>ENVIO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Headers &amp; 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81412"/>
            <a:ext cx="6024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Metadados da requisição indicando formato e autorizações.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29087"/>
            <a:ext cx="4686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monospace"/>
              </a:rPr>
              <a:t>Content-Type: application/json</a:t>
            </a:r>
            <a:r>
              <a:t>
</a:t>
            </a:r>
            <a:r>
              <a:rPr b="0" sz="975" i="0" u="none">
                <a:solidFill>
                  <a:srgbClr val="334155"/>
                </a:solidFill>
                <a:latin typeface="monospace"/>
              </a:rPr>
              <a:t> Accept: application/json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548062"/>
            <a:ext cx="5705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Corpo da mensagem enviado em requisições POST, PUT e PATCH.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995737"/>
            <a:ext cx="4686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2E8F0"/>
                </a:solidFill>
                <a:latin typeface="monospace"/>
              </a:rPr>
              <a:t>{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  "nome": "Maria",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  "ativo": true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1575" y="3300412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Headers (Cabeçalhos)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3167062"/>
            <a:ext cx="187523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Body (Payload)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4662"/>
            <a:ext cx="3530649" cy="1819275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014662"/>
            <a:ext cx="3530649" cy="1819275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14662"/>
            <a:ext cx="3530649" cy="1819275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9088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74" y="329088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329088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395662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937" y="3395662"/>
            <a:ext cx="219075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2899" y="3395662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Grotesk"/>
              </a:rPr>
              <a:t>SEGURANÇA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Autenticação no Postman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824287"/>
            <a:ext cx="390888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Bearer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129087"/>
            <a:ext cx="30734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Envia token JWT no cabeçalho </a:t>
            </a:r>
            <a:r>
              <a:rPr b="0" sz="975" i="0" u="none">
                <a:solidFill>
                  <a:srgbClr val="475569"/>
                </a:solidFill>
                <a:latin typeface="Inter"/>
              </a:rPr>
              <a:t>Authorization: Bearer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974" y="3824287"/>
            <a:ext cx="390888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Basic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974" y="4129087"/>
            <a:ext cx="30734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Codifica Usuário e Senha em Base64 para acesso às APIs.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824287"/>
            <a:ext cx="3863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API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4129087"/>
            <a:ext cx="30734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Chave única transmitida via Header ou Query Parameter.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09750" y="3109912"/>
            <a:ext cx="2705100" cy="1000125"/>
          </a:xfrm>
          <a:prstGeom prst="roundRect">
            <a:avLst>
              <a:gd name="adj" fmla="val 952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43450" y="3109912"/>
            <a:ext cx="2705100" cy="1000125"/>
          </a:xfrm>
          <a:prstGeom prst="roundRect">
            <a:avLst>
              <a:gd name="adj" fmla="val 952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77150" y="3109912"/>
            <a:ext cx="2705100" cy="1000125"/>
          </a:xfrm>
          <a:prstGeom prst="roundRect">
            <a:avLst>
              <a:gd name="adj" fmla="val 952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26210" y="2100262"/>
            <a:ext cx="2339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6C37"/>
                </a:solidFill>
                <a:latin typeface="Space Grotesk"/>
              </a:rPr>
              <a:t>RESPOSTAS DO SERVIDOR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9436" y="2271712"/>
            <a:ext cx="5013126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Space Grotesk"/>
              </a:rPr>
              <a:t>Status Codes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23109" y="4567237"/>
            <a:ext cx="4345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Pronto para testar suas requisições no Postman!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2112" y="3300412"/>
            <a:ext cx="30003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22C55E"/>
                </a:solidFill>
                <a:latin typeface="Inter"/>
              </a:rPr>
              <a:t>2xx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5812" y="3300412"/>
            <a:ext cx="30003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59E0B"/>
                </a:solidFill>
                <a:latin typeface="Inter"/>
              </a:rPr>
              <a:t>4xx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9512" y="3300412"/>
            <a:ext cx="30003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EF4444"/>
                </a:solidFill>
                <a:latin typeface="Inter"/>
              </a:rPr>
              <a:t>5xx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1643" y="3729037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Inter"/>
              </a:rPr>
              <a:t>Sucesso (200 OK, 201 Created)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5343" y="3729037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Inter"/>
              </a:rPr>
              <a:t>Erro do Cliente (401, 404)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043" y="3729037"/>
            <a:ext cx="288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Inter"/>
              </a:rPr>
              <a:t>Erro do Servidor (500)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