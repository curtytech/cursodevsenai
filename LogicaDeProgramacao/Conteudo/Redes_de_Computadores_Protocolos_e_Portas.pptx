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601200" cy="620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0B4D8"/>
                </a:solidFill>
              </a:defRPr>
            </a:pPr>
            <a:r>
              <a:rPr dirty="0"/>
              <a:t>DESENVOLVIMENTO DE SISTEMAS </a:t>
            </a:r>
            <a:endParaRPr lang="pt-BR" dirty="0" smtClean="0"/>
          </a:p>
          <a:p>
            <a:pPr>
              <a:spcAft>
                <a:spcPts val="1000"/>
              </a:spcAft>
              <a:defRPr sz="1300" b="1">
                <a:solidFill>
                  <a:srgbClr val="00B4D8"/>
                </a:solidFill>
              </a:defRPr>
            </a:pPr>
            <a:r>
              <a:rPr dirty="0" smtClean="0"/>
              <a:t>•</a:t>
            </a:r>
            <a:r>
              <a:rPr lang="pt-BR" dirty="0" smtClean="0"/>
              <a:t> </a:t>
            </a:r>
            <a:r>
              <a:rPr dirty="0" err="1" smtClean="0"/>
              <a:t>Protocolos</a:t>
            </a:r>
            <a:r>
              <a:rPr dirty="0" smtClean="0"/>
              <a:t> </a:t>
            </a:r>
            <a:r>
              <a:rPr dirty="0"/>
              <a:t>de </a:t>
            </a:r>
            <a:r>
              <a:rPr dirty="0" err="1"/>
              <a:t>Rede</a:t>
            </a:r>
            <a:r>
              <a:rPr dirty="0"/>
              <a:t>, </a:t>
            </a:r>
            <a:r>
              <a:rPr dirty="0" err="1"/>
              <a:t>Portas</a:t>
            </a:r>
            <a:r>
              <a:rPr dirty="0"/>
              <a:t> e </a:t>
            </a:r>
            <a:r>
              <a:rPr dirty="0" err="1" smtClean="0"/>
              <a:t>Aplicações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1097280" y="4663440"/>
            <a:ext cx="3108960" cy="1097280"/>
          </a:xfrm>
          <a:prstGeom prst="roundRect">
            <a:avLst/>
          </a:prstGeom>
          <a:solidFill>
            <a:srgbClr val="132A4A"/>
          </a:solidFill>
          <a:ln w="19050">
            <a:solidFill>
              <a:srgbClr val="0E7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0" rtlCol="0" anchor="ctr"/>
          <a:lstStyle/>
          <a:p>
            <a:pPr algn="ctr">
              <a:defRPr sz="1300" b="1">
                <a:solidFill>
                  <a:srgbClr val="00B4D8"/>
                </a:solidFill>
              </a:defRPr>
            </a:pPr>
            <a:r>
              <a:t>Portas 0 a 1023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Portas Bem Conhecidas (Well-Known)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4663440"/>
            <a:ext cx="3108960" cy="1097280"/>
          </a:xfrm>
          <a:prstGeom prst="roundRect">
            <a:avLst/>
          </a:prstGeom>
          <a:solidFill>
            <a:srgbClr val="132A4A"/>
          </a:solidFill>
          <a:ln w="19050">
            <a:solidFill>
              <a:srgbClr val="0E7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0" rtlCol="0" anchor="ctr"/>
          <a:lstStyle/>
          <a:p>
            <a:pPr algn="ctr">
              <a:defRPr sz="1300" b="1">
                <a:solidFill>
                  <a:srgbClr val="00B4D8"/>
                </a:solidFill>
              </a:defRPr>
            </a:pPr>
            <a:r>
              <a:t>TCP vs UDP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Camada de Transporte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4663440"/>
            <a:ext cx="3108960" cy="1097280"/>
          </a:xfrm>
          <a:prstGeom prst="roundRect">
            <a:avLst/>
          </a:prstGeom>
          <a:solidFill>
            <a:srgbClr val="132A4A"/>
          </a:solidFill>
          <a:ln w="19050">
            <a:solidFill>
              <a:srgbClr val="0E7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0" rtlCol="0" anchor="ctr"/>
          <a:lstStyle/>
          <a:p>
            <a:pPr algn="ctr">
              <a:defRPr sz="1300" b="1">
                <a:solidFill>
                  <a:srgbClr val="00B4D8"/>
                </a:solidFill>
              </a:defRPr>
            </a:pPr>
            <a:r>
              <a:t>Tabela DORA &amp; HTTP/S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Top Temas de Concursos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57200"/>
            <a:ext cx="4114800" cy="32004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E74E0"/>
                </a:solidFill>
              </a:defRPr>
            </a:pPr>
            <a:r>
              <a:t>REDES DE COMPUTADORES • FOCO EM CONCURSOS E PROVAS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92C"/>
                </a:solidFill>
              </a:defRPr>
            </a:pPr>
            <a:r>
              <a:rPr dirty="0"/>
              <a:t>Slide 1: </a:t>
            </a:r>
            <a:r>
              <a:rPr dirty="0" err="1"/>
              <a:t>Fundamentos</a:t>
            </a:r>
            <a:r>
              <a:rPr dirty="0"/>
              <a:t> — </a:t>
            </a:r>
            <a:r>
              <a:rPr dirty="0" err="1"/>
              <a:t>Protocolos</a:t>
            </a:r>
            <a:r>
              <a:rPr dirty="0"/>
              <a:t>, </a:t>
            </a:r>
            <a:r>
              <a:rPr dirty="0" err="1"/>
              <a:t>Camadas</a:t>
            </a:r>
            <a:r>
              <a:rPr dirty="0"/>
              <a:t> e </a:t>
            </a:r>
            <a:r>
              <a:rPr dirty="0" err="1"/>
              <a:t>Portas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0728655" cy="502920"/>
          </a:xfrm>
          <a:prstGeom prst="rect">
            <a:avLst/>
          </a:prstGeom>
          <a:solidFill>
            <a:srgbClr val="EEF6FF"/>
          </a:solidFill>
          <a:ln w="19050">
            <a:solidFill>
              <a:srgbClr val="0E7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E74E0"/>
                </a:solidFill>
              </a:defRPr>
            </a:pPr>
            <a:r>
              <a:t>💡 MENSAGEM PRINCIPAL: Protocolos determinam as regras de diálogo na rede e as portas direcionam os dados para o processo de software correto.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603504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400"/>
              </a:spcAft>
              <a:defRPr sz="1400" b="1">
                <a:solidFill>
                  <a:srgbClr val="0B192C"/>
                </a:solidFill>
              </a:defRPr>
            </a:pPr>
            <a:r>
              <a:t>Pontos-Chave &amp; Questões de Prova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rPr b="0"/>
              <a:t>• Conceito de Porta: Ponto de terminação lógico que identifica qual processo/aplicação deve receber o pacote. Portas bem conhecidas vão de 0 a 1023.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rPr b="0"/>
              <a:t>• Modelo em Camadas: O foco principal das provas recai na relação entre a camada de Transporte (como trafega) e Aplicação (o que trafega).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rPr b="0"/>
              <a:t>• Fórmula de Questão: A maioria das questões exige associar diretamente a tríade: [Protocolo] ↔ [Porta Padrão] ↔ [Tipo de Transporte TCP/UDP].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2286000"/>
            <a:ext cx="4389120" cy="4023360"/>
          </a:xfrm>
          <a:prstGeom prst="roundRect">
            <a:avLst/>
          </a:prstGeom>
          <a:solidFill>
            <a:srgbClr val="EFF6FF"/>
          </a:solidFill>
          <a:ln>
            <a:solidFill>
              <a:srgbClr val="0E7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spcAft>
                <a:spcPts val="1000"/>
              </a:spcAft>
              <a:defRPr sz="1200" b="1">
                <a:solidFill>
                  <a:srgbClr val="0E74E0"/>
                </a:solidFill>
              </a:defRPr>
            </a:pPr>
            <a:r>
              <a:t>DIAGRAMA DE CAMADAS &amp; PORTAS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2926080"/>
            <a:ext cx="3840480" cy="658368"/>
          </a:xfrm>
          <a:prstGeom prst="rect">
            <a:avLst/>
          </a:prstGeom>
          <a:solidFill>
            <a:srgbClr val="0E74E0"/>
          </a:solidFill>
          <a:ln>
            <a:solidFill>
              <a:srgbClr val="0E7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Camada de Aplicação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HTTP (80), HTTPS (443), DNS (53), SSH (22)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3703320"/>
            <a:ext cx="3840480" cy="658368"/>
          </a:xfrm>
          <a:prstGeom prst="rect">
            <a:avLst/>
          </a:prstGeom>
          <a:solidFill>
            <a:srgbClr val="38BDF8"/>
          </a:solidFill>
          <a:ln>
            <a:solidFill>
              <a:srgbClr val="0E7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Camada de Transporte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Portas Lógicas: TCP (Confiável) | UDP (Rápido)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4480560"/>
            <a:ext cx="3840480" cy="658368"/>
          </a:xfrm>
          <a:prstGeom prst="rect">
            <a:avLst/>
          </a:prstGeom>
          <a:solidFill>
            <a:srgbClr val="BAE6FD"/>
          </a:solidFill>
          <a:ln>
            <a:solidFill>
              <a:srgbClr val="0E7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Camada de Internet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Endereçamento IP (IPv4 / IPv6), ICMP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5257800"/>
            <a:ext cx="3840480" cy="658368"/>
          </a:xfrm>
          <a:prstGeom prst="rect">
            <a:avLst/>
          </a:prstGeom>
          <a:solidFill>
            <a:srgbClr val="E0F2FE"/>
          </a:solidFill>
          <a:ln>
            <a:solidFill>
              <a:srgbClr val="0E7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Camada de Acesso à Rede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Ethernet, Wi-Fi, Endereço Físico MAC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Desenvolvimento de Sistemas | Guia Definitivo de Redes e Protocolos  —  Slide 1 de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57200"/>
            <a:ext cx="4114800" cy="32004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E74E0"/>
                </a:solidFill>
              </a:defRPr>
            </a:pPr>
            <a:r>
              <a:t>REDES DE COMPUTADORES • FOCO EM CONCURSOS E PROVAS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92C"/>
                </a:solidFill>
              </a:defRPr>
            </a:pPr>
            <a:r>
              <a:t>Slide 2: Camada de Transporte — TCP vs. UDP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0728655" cy="502920"/>
          </a:xfrm>
          <a:prstGeom prst="rect">
            <a:avLst/>
          </a:prstGeom>
          <a:solidFill>
            <a:srgbClr val="EEF6FF"/>
          </a:solidFill>
          <a:ln w="19050">
            <a:solidFill>
              <a:srgbClr val="0E7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E74E0"/>
                </a:solidFill>
              </a:defRPr>
            </a:pPr>
            <a:r>
              <a:t>💡 MENSAGEM PRINCIPAL: Escolher entre confiabilidade garantida ou velocidade de entrega em tempo real define o protocolo de transporte.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603504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400"/>
              </a:spcAft>
              <a:defRPr sz="1400" b="1">
                <a:solidFill>
                  <a:srgbClr val="0B192C"/>
                </a:solidFill>
              </a:defRPr>
            </a:pPr>
            <a:r>
              <a:t>Pontos-Chave &amp; Questões de Prova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rPr b="0"/>
              <a:t>• TCP (Transmission Control): Orientado à conexão, confiável, garante entrega e ordem dos pacotes através do Three-Way Handshake (SYN, SYN-ACK, ACK).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rPr b="0"/>
              <a:t>• UDP (User Datagram): Não orientado à conexão, sem confirmação de entrega, com cabeçalho leve e baixíssima latência (streaming, jogos, VoIP, DNS).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rPr b="0"/>
              <a:t>• Pegadinha de Prova: UDP não é 'pior' que TCP. Em provas, frise que UDP é a escolha intencional para aplicações tolerantes a perda pontual mas intolerantes a atrasos.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2286000"/>
            <a:ext cx="4389120" cy="1920240"/>
          </a:xfrm>
          <a:prstGeom prst="roundRect">
            <a:avLst/>
          </a:prstGeom>
          <a:solidFill>
            <a:srgbClr val="E0F2FE"/>
          </a:solidFill>
          <a:ln>
            <a:solidFill>
              <a:srgbClr val="0E7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tlCol="0" anchor="ctr"/>
          <a:lstStyle/>
          <a:p>
            <a:pPr algn="ctr">
              <a:defRPr sz="1300" b="1">
                <a:solidFill>
                  <a:srgbClr val="0B192C"/>
                </a:solidFill>
              </a:defRPr>
            </a:pPr>
            <a:r>
              <a:t>🤝 TCP (Conexão Garantida)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Three-Way Handshake: SYN → SYN-ACK → ACK</a:t>
            </a:r>
            <a:br/>
            <a:r>
              <a:t>• Controle de congestionamento e retransmissão</a:t>
            </a:r>
            <a:br/>
            <a:r>
              <a:t>• Uso: HTTP, HTTPS, SSH, FTP, SMTP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4389120"/>
            <a:ext cx="4389120" cy="1920240"/>
          </a:xfrm>
          <a:prstGeom prst="roundRect">
            <a:avLst/>
          </a:prstGeom>
          <a:solidFill>
            <a:srgbClr val="FEF3C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tlCol="0" anchor="ctr"/>
          <a:lstStyle/>
          <a:p>
            <a:pPr algn="ctr">
              <a:defRPr sz="1300" b="1">
                <a:solidFill>
                  <a:srgbClr val="92400E"/>
                </a:solidFill>
              </a:defRPr>
            </a:pPr>
            <a:r>
              <a:t>⚡ UDP (Velocidade &amp; Tempo Real)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Sem confirmação, menor overhead (8 bytes cabeçalho)</a:t>
            </a:r>
            <a:br/>
            <a:r>
              <a:t>• Não bloqueia fluxo se pacote for perdido</a:t>
            </a:r>
            <a:br/>
            <a:r>
              <a:t>• Uso: DNS consultas, DHCP, VoIP, Vídeo ao Vivo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Desenvolvimento de Sistemas | Guia Definitivo de Redes e Protocolos  —  Slide 2 de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57200"/>
            <a:ext cx="4114800" cy="32004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E74E0"/>
                </a:solidFill>
              </a:defRPr>
            </a:pPr>
            <a:r>
              <a:t>REDES DE COMPUTADORES • FOCO EM CONCURSOS E PROVAS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92C"/>
                </a:solidFill>
              </a:defRPr>
            </a:pPr>
            <a:r>
              <a:t>Slide 3: Navegação Web e APIs — HTTP (80) e HTTPS (443)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0728655" cy="502920"/>
          </a:xfrm>
          <a:prstGeom prst="rect">
            <a:avLst/>
          </a:prstGeom>
          <a:solidFill>
            <a:srgbClr val="EEF6FF"/>
          </a:solidFill>
          <a:ln w="19050">
            <a:solidFill>
              <a:srgbClr val="0E7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E74E0"/>
                </a:solidFill>
              </a:defRPr>
            </a:pPr>
            <a:r>
              <a:t>💡 MENSAGEM PRINCIPAL: A espinha dorsal da web moderna divide-se entre transferência em texto puro e túnel seguro criptografado.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603504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400"/>
              </a:spcAft>
              <a:defRPr sz="1400" b="1">
                <a:solidFill>
                  <a:srgbClr val="0B192C"/>
                </a:solidFill>
              </a:defRPr>
            </a:pPr>
            <a:r>
              <a:t>Pontos-Chave &amp; Questões de Prova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rPr b="0"/>
              <a:t>• HTTP (Porta 80 / TCP): Protocolo sem estado (stateless), opera no modelo cliente-servidor de requisição-resposta com tráfego em texto aberto desprotegido.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rPr b="0"/>
              <a:t>• HTTPS (Porta 443 / TCP): Adiciona a camada SSL/TLS sobre o HTTP, garantindo três pilares: confidencialidade (criptografia), integridade e autenticidade (certificados digitais).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rPr b="0"/>
              <a:t>• Cai na Prova: O HTTPS não substitui a semântica do HTTP. Os métodos (GET, POST, PUT, DELETE) continuam exatamente iguais dentro do envelope TLS.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2286000"/>
            <a:ext cx="4389120" cy="1920240"/>
          </a:xfrm>
          <a:prstGeom prst="roundRect">
            <a:avLst/>
          </a:prstGeom>
          <a:solidFill>
            <a:srgbClr val="FEE2E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tlCol="0" anchor="ctr"/>
          <a:lstStyle/>
          <a:p>
            <a:pPr algn="ctr">
              <a:defRPr sz="1300" b="1">
                <a:solidFill>
                  <a:srgbClr val="991B1B"/>
                </a:solidFill>
              </a:defRPr>
            </a:pPr>
            <a:r>
              <a:t>🔓 HTTP — Porta 80 (Texto Claro)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Pacotes vulneráveis a sniffing (captura de credenciais)</a:t>
            </a:r>
            <a:br/>
            <a:r>
              <a:t>• Sem verificação de identidade do servidor</a:t>
            </a:r>
            <a:br/>
            <a:r>
              <a:t>• Inadequado para dados sensíveis e autenticações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4389120"/>
            <a:ext cx="4389120" cy="1920240"/>
          </a:xfrm>
          <a:prstGeom prst="roundRect">
            <a:avLst/>
          </a:prstGeom>
          <a:solidFill>
            <a:srgbClr val="DCFCE7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tlCol="0" anchor="ctr"/>
          <a:lstStyle/>
          <a:p>
            <a:pPr algn="ctr">
              <a:defRPr sz="1300" b="1">
                <a:solidFill>
                  <a:srgbClr val="166534"/>
                </a:solidFill>
              </a:defRPr>
            </a:pPr>
            <a:r>
              <a:t>🔒 HTTPS — Porta 443 (TLS/SSL Criptografado)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Criptografia de ponta a ponta (chave simétrica + assimétrica)</a:t>
            </a:r>
            <a:br/>
            <a:r>
              <a:t>• Certificados X.509 validados por Autoridades Certificadoras</a:t>
            </a:r>
            <a:br/>
            <a:r>
              <a:t>• Padrão mandatório para comércio, APIs REST e autenticação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Desenvolvimento de Sistemas | Guia Definitivo de Redes e Protocolos  —  Slide 3 de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57200"/>
            <a:ext cx="4114800" cy="32004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E74E0"/>
                </a:solidFill>
              </a:defRPr>
            </a:pPr>
            <a:r>
              <a:t>REDES DE COMPUTADORES • FOCO EM CONCURSOS E PROVAS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92C"/>
                </a:solidFill>
              </a:defRPr>
            </a:pPr>
            <a:r>
              <a:t>Slide 4: Resolução de Nomes — DNS (Porta 53)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0728655" cy="502920"/>
          </a:xfrm>
          <a:prstGeom prst="rect">
            <a:avLst/>
          </a:prstGeom>
          <a:solidFill>
            <a:srgbClr val="EEF6FF"/>
          </a:solidFill>
          <a:ln w="19050">
            <a:solidFill>
              <a:srgbClr val="0E7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E74E0"/>
                </a:solidFill>
              </a:defRPr>
            </a:pPr>
            <a:r>
              <a:t>💡 MENSAGEM PRINCIPAL: O DNS é a lista telefônica da internet, traduzindo nomes de domínio amigáveis para os endereços IP das máquinas.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603504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400"/>
              </a:spcAft>
              <a:defRPr sz="1400" b="1">
                <a:solidFill>
                  <a:srgbClr val="0B192C"/>
                </a:solidFill>
              </a:defRPr>
            </a:pPr>
            <a:r>
              <a:t>Pontos-Chave &amp; Questões de Prova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rPr b="0"/>
              <a:t>• Porta e Transporte: Utiliza a Porta 53. Usa UDP para consultas rotineiras rápidas e chaveia para TCP para transferências de zona entre servidores (Zone Transfers &gt; 512 bytes).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rPr b="0"/>
              <a:t>• Estrutura Hierárquica: A consulta percorre uma árvore distribuída: Servidores Raiz (Root '.') → TLD (.com, .br) → Servidores Autoritativos do domínio.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rPr b="0"/>
              <a:t>• Registros Mais Cobrados: A (converte para IPv4), AAAA (IPv6), CNAME (alias/nome canônico) e MX (servidores de correio eletrônico).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2286000"/>
            <a:ext cx="4389120" cy="4023360"/>
          </a:xfrm>
          <a:prstGeom prst="roundRect">
            <a:avLst/>
          </a:prstGeom>
          <a:solidFill>
            <a:srgbClr val="F0F9FF"/>
          </a:solidFill>
          <a:ln>
            <a:solidFill>
              <a:srgbClr val="0E7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tlCol="0" anchor="ctr"/>
          <a:lstStyle/>
          <a:p>
            <a:pPr algn="ctr">
              <a:spcAft>
                <a:spcPts val="800"/>
              </a:spcAft>
              <a:defRPr sz="1200" b="1">
                <a:solidFill>
                  <a:srgbClr val="0E74E0"/>
                </a:solidFill>
              </a:defRPr>
            </a:pPr>
            <a:r>
              <a:t>FLUXO DE RESOLUÇÃO DNS (PORTA 53)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2880360"/>
            <a:ext cx="4023360" cy="685800"/>
          </a:xfrm>
          <a:prstGeom prst="rect">
            <a:avLst/>
          </a:prstGeom>
          <a:solidFill>
            <a:srgbClr val="E0F2FE"/>
          </a:solidFill>
          <a:ln>
            <a:solidFill>
              <a:srgbClr val="0E7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B192C"/>
                </a:solidFill>
              </a:defRPr>
            </a:pPr>
            <a:r>
              <a:t>1. Cliente / Resolver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Consulta: 'Qual o IP de www.site.com?'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3685032"/>
            <a:ext cx="4023360" cy="685800"/>
          </a:xfrm>
          <a:prstGeom prst="rect">
            <a:avLst/>
          </a:prstGeom>
          <a:solidFill>
            <a:srgbClr val="BAE6FD"/>
          </a:solidFill>
          <a:ln>
            <a:solidFill>
              <a:srgbClr val="0E7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B192C"/>
                </a:solidFill>
              </a:defRPr>
            </a:pPr>
            <a:r>
              <a:t>2. Root Server (.)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Responde: 'Vá ao servidor TLD .com'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4489704"/>
            <a:ext cx="4023360" cy="685800"/>
          </a:xfrm>
          <a:prstGeom prst="rect">
            <a:avLst/>
          </a:prstGeom>
          <a:solidFill>
            <a:srgbClr val="7DD3FC"/>
          </a:solidFill>
          <a:ln>
            <a:solidFill>
              <a:srgbClr val="0E7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B192C"/>
                </a:solidFill>
              </a:defRPr>
            </a:pPr>
            <a:r>
              <a:t>3. Servidor TLD (.com)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Responde: 'Vá ao autoritativo do site.com'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5294376"/>
            <a:ext cx="4023360" cy="685800"/>
          </a:xfrm>
          <a:prstGeom prst="rect">
            <a:avLst/>
          </a:prstGeom>
          <a:solidFill>
            <a:srgbClr val="0EA5E9"/>
          </a:solidFill>
          <a:ln>
            <a:solidFill>
              <a:srgbClr val="0E7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B192C"/>
                </a:solidFill>
              </a:defRPr>
            </a:pPr>
            <a:r>
              <a:t>4. Servidor Autoritativo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Responde: 'Registro A = 192.0.2.1'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Desenvolvimento de Sistemas | Guia Definitivo de Redes e Protocolos  —  Slide 4 de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57200"/>
            <a:ext cx="4114800" cy="32004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E74E0"/>
                </a:solidFill>
              </a:defRPr>
            </a:pPr>
            <a:r>
              <a:t>REDES DE COMPUTADORES • FOCO EM CONCURSOS E PROVAS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92C"/>
                </a:solidFill>
              </a:defRPr>
            </a:pPr>
            <a:r>
              <a:t>Slide 5: Acesso Remoto e Arquivos — SSH (22), FTP (20/21) e SFTP (22)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0728655" cy="502920"/>
          </a:xfrm>
          <a:prstGeom prst="rect">
            <a:avLst/>
          </a:prstGeom>
          <a:solidFill>
            <a:srgbClr val="EEF6FF"/>
          </a:solidFill>
          <a:ln w="19050">
            <a:solidFill>
              <a:srgbClr val="0E7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E74E0"/>
                </a:solidFill>
              </a:defRPr>
            </a:pPr>
            <a:r>
              <a:t>💡 MENSAGEM PRINCIPAL: A administração e transferência de arquivos migraram de protocolos abertos para canais totalmente blindados por criptografia.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603504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400"/>
              </a:spcAft>
              <a:defRPr sz="1400" b="1">
                <a:solidFill>
                  <a:srgbClr val="0B192C"/>
                </a:solidFill>
              </a:defRPr>
            </a:pPr>
            <a:r>
              <a:t>Pontos-Chave &amp; Questões de Prova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rPr b="0"/>
              <a:t>• FTP (Portas 20 e 21 / TCP): Opera com dois canais: porta 21 para comandos e porta 20 para fluxo de dados. Vulnerável por trafegar senhas em texto puro.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rPr b="0"/>
              <a:t>• SSH (Porta 22 / TCP): Protocolo seguro para shell remoto e administração. Substituiu o obsoleto Telnet (porta 23) usando criptografia assimétrica de chaves.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rPr b="0"/>
              <a:t>• Pegadinha de Prova: SFTP vs FTPS: SFTP usa a Porta 22 (roda sobre túnel SSH). FTPS é o protocolo FTP legado envelopado por SSL/TLS (portas 989/990). Não confunda!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2286000"/>
            <a:ext cx="4389120" cy="1234440"/>
          </a:xfrm>
          <a:prstGeom prst="roundRect">
            <a:avLst/>
          </a:prstGeom>
          <a:solidFill>
            <a:srgbClr val="FEF2F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ctr"/>
          <a:lstStyle/>
          <a:p>
            <a:pPr algn="ctr">
              <a:defRPr sz="1100" b="1">
                <a:solidFill>
                  <a:srgbClr val="B91C1C"/>
                </a:solidFill>
              </a:defRPr>
            </a:pPr>
            <a:r>
              <a:t>📁 FTP — Portas 20 / 21 (Legado e Inseguro)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Porta 21: Sessão/Controle | Porta 20: Dados</a:t>
            </a:r>
            <a:br/>
            <a:r>
              <a:t>Senhas expostas diretamente na rede local.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3657600"/>
            <a:ext cx="4389120" cy="123444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ctr"/>
          <a:lstStyle/>
          <a:p>
            <a:pPr algn="ctr">
              <a:defRPr sz="1100" b="1">
                <a:solidFill>
                  <a:srgbClr val="4338CA"/>
                </a:solidFill>
              </a:defRPr>
            </a:pPr>
            <a:r>
              <a:t>💻 SSH — Porta 22 (Acesso Remoto Blindado)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Substituiu o Telnet (23). Sessão interativa criptografada</a:t>
            </a:r>
            <a:br/>
            <a:r>
              <a:t>com chaves RSA/Ed25519.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5029200"/>
            <a:ext cx="4389120" cy="128016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ctr"/>
          <a:lstStyle/>
          <a:p>
            <a:pPr algn="ctr">
              <a:defRPr sz="1100" b="1">
                <a:solidFill>
                  <a:srgbClr val="065F46"/>
                </a:solidFill>
              </a:defRPr>
            </a:pPr>
            <a:r>
              <a:t>🔐 SFTP — Porta 22 (Arquivos via SSH)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Roda estritamente dentro da sessão SSH.</a:t>
            </a:r>
            <a:br/>
            <a:r>
              <a:t>Evita abrir múltiplas portas no firewall.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Desenvolvimento de Sistemas | Guia Definitivo de Redes e Protocolos  —  Slide 5 de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57200"/>
            <a:ext cx="4114800" cy="32004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E74E0"/>
                </a:solidFill>
              </a:defRPr>
            </a:pPr>
            <a:r>
              <a:t>REDES DE COMPUTADORES • FOCO EM CONCURSOS E PROVAS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92C"/>
                </a:solidFill>
              </a:defRPr>
            </a:pPr>
            <a:r>
              <a:t>Slide 6: Correio Eletrônico — SMTP, IMAP e POP3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0728655" cy="502920"/>
          </a:xfrm>
          <a:prstGeom prst="rect">
            <a:avLst/>
          </a:prstGeom>
          <a:solidFill>
            <a:srgbClr val="EEF6FF"/>
          </a:solidFill>
          <a:ln w="19050">
            <a:solidFill>
              <a:srgbClr val="0E7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E74E0"/>
                </a:solidFill>
              </a:defRPr>
            </a:pPr>
            <a:r>
              <a:t>💡 MENSAGEM PRINCIPAL: O ecossistema de e-mail separa estritamente o envio (empurrar) do recebimento e sincronização (puxar).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603504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400"/>
              </a:spcAft>
              <a:defRPr sz="1400" b="1">
                <a:solidFill>
                  <a:srgbClr val="0B192C"/>
                </a:solidFill>
              </a:defRPr>
            </a:pPr>
            <a:r>
              <a:t>Pontos-Chave &amp; Questões de Prova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rPr b="0"/>
              <a:t>• SMTP (Portas 25 / 587 / TCP): Protocolo de envio (Push) de e-mails do cliente para o servidor e entre servidores. Porta 25 é legada/bloqueada em provedores; 587 é a porta padrão atual com STARTTLS.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rPr b="0"/>
              <a:t>• POP3 (Porta 110 ou 995 SSL / TCP): Protocolo de recebimento que faz download das mensagens para o dispositivo local, tradicionalmente removendo-as do servidor remoto.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rPr b="0"/>
              <a:t>• IMAP (Porta 143 ou 993 SSL / TCP): Protocolo de recebimento e sincronismo contínuo. As mensagens permanecem armazenadas no servidor, permitindo múltiplos clientes sincronizados simultaneamente.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2286000"/>
            <a:ext cx="4389120" cy="4023360"/>
          </a:xfrm>
          <a:prstGeom prst="roundRect">
            <a:avLst/>
          </a:prstGeom>
          <a:solidFill>
            <a:srgbClr val="F8FAFC"/>
          </a:solidFill>
          <a:ln>
            <a:solidFill>
              <a:srgbClr val="0E7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tlCol="0" anchor="ctr"/>
          <a:lstStyle/>
          <a:p>
            <a:pPr algn="ctr">
              <a:spcAft>
                <a:spcPts val="1000"/>
              </a:spcAft>
              <a:defRPr sz="1200" b="1">
                <a:solidFill>
                  <a:srgbClr val="0E74E0"/>
                </a:solidFill>
              </a:defRPr>
            </a:pPr>
            <a:r>
              <a:t>FLUXO DE E-MAIL: ENVIO VS RECEPÇÃO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2926080"/>
            <a:ext cx="4023360" cy="960120"/>
          </a:xfrm>
          <a:prstGeom prst="rect">
            <a:avLst/>
          </a:prstGeom>
          <a:solidFill>
            <a:srgbClr val="DBEAFE"/>
          </a:solidFill>
          <a:ln>
            <a:solidFill>
              <a:srgbClr val="0E7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B192C"/>
                </a:solidFill>
              </a:defRPr>
            </a:pPr>
            <a:r>
              <a:t>📤 ENVIO (PUSH): SMTP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Porta 587 (Submissão) / Porta 25 (Servidor-a-Servidor)</a:t>
            </a:r>
            <a:br/>
            <a:r>
              <a:t>Envia do remetente para a nuvem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4023360"/>
            <a:ext cx="4023360" cy="960120"/>
          </a:xfrm>
          <a:prstGeom prst="rect">
            <a:avLst/>
          </a:prstGeom>
          <a:solidFill>
            <a:srgbClr val="FEF3C7"/>
          </a:solidFill>
          <a:ln>
            <a:solidFill>
              <a:srgbClr val="0E7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B192C"/>
                </a:solidFill>
              </a:defRPr>
            </a:pPr>
            <a:r>
              <a:t>📥 RECEPÇÃO (PULL): POP3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Porta 110 (Inseguro) / Porta 995 (SSL)</a:t>
            </a:r>
            <a:br/>
            <a:r>
              <a:t>Baixa pro computador e apaga do servidor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5120640"/>
            <a:ext cx="4023360" cy="960120"/>
          </a:xfrm>
          <a:prstGeom prst="rect">
            <a:avLst/>
          </a:prstGeom>
          <a:solidFill>
            <a:srgbClr val="DCFCE7"/>
          </a:solidFill>
          <a:ln>
            <a:solidFill>
              <a:srgbClr val="0E7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B192C"/>
                </a:solidFill>
              </a:defRPr>
            </a:pPr>
            <a:r>
              <a:t>🔄 SINCRONIZAÇÃO: IMAP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Porta 143 (Inseguro) / Porta 993 (SSL)</a:t>
            </a:r>
            <a:br/>
            <a:r>
              <a:t>Espelha caixas em múltiplos aparelhos sem apagar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Desenvolvimento de Sistemas | Guia Definitivo de Redes e Protocolos  —  Slide 6 de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57200"/>
            <a:ext cx="4114800" cy="32004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E74E0"/>
                </a:solidFill>
              </a:defRPr>
            </a:pPr>
            <a:r>
              <a:t>REDES DE COMPUTADORES • FOCO EM CONCURSOS E PROVAS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92C"/>
                </a:solidFill>
              </a:defRPr>
            </a:pPr>
            <a:r>
              <a:t>Slide 7: Configuração e Gestão — DHCP (67/68) e SNMP (161/162)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0728655" cy="502920"/>
          </a:xfrm>
          <a:prstGeom prst="rect">
            <a:avLst/>
          </a:prstGeom>
          <a:solidFill>
            <a:srgbClr val="EEF6FF"/>
          </a:solidFill>
          <a:ln w="19050">
            <a:solidFill>
              <a:srgbClr val="0E7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E74E0"/>
                </a:solidFill>
              </a:defRPr>
            </a:pPr>
            <a:r>
              <a:t>💡 MENSAGEM PRINCIPAL: Automatizar endereçamento IP e coletar telemetria em tempo real são funções vitais de infraestrutura.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603504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400"/>
              </a:spcAft>
              <a:defRPr sz="1400" b="1">
                <a:solidFill>
                  <a:srgbClr val="0B192C"/>
                </a:solidFill>
              </a:defRPr>
            </a:pPr>
            <a:r>
              <a:rPr dirty="0" err="1"/>
              <a:t>Pontos-Chave</a:t>
            </a:r>
            <a:r>
              <a:rPr dirty="0"/>
              <a:t> &amp; </a:t>
            </a:r>
            <a:r>
              <a:rPr dirty="0" err="1"/>
              <a:t>Questões</a:t>
            </a:r>
            <a:r>
              <a:rPr dirty="0"/>
              <a:t> de </a:t>
            </a:r>
            <a:r>
              <a:rPr dirty="0" err="1"/>
              <a:t>Prova</a:t>
            </a:r>
            <a:endParaRPr dirty="0"/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rPr b="0" dirty="0"/>
              <a:t>• DHCP (</a:t>
            </a:r>
            <a:r>
              <a:rPr b="0" dirty="0" err="1"/>
              <a:t>Portas</a:t>
            </a:r>
            <a:r>
              <a:rPr b="0" dirty="0"/>
              <a:t> 67 e 68 / UDP): </a:t>
            </a:r>
            <a:r>
              <a:rPr b="0" dirty="0" err="1"/>
              <a:t>Configura</a:t>
            </a:r>
            <a:r>
              <a:rPr b="0" dirty="0"/>
              <a:t> </a:t>
            </a:r>
            <a:r>
              <a:rPr b="0" dirty="0" err="1"/>
              <a:t>automaticamente</a:t>
            </a:r>
            <a:r>
              <a:rPr b="0" dirty="0"/>
              <a:t> hosts </a:t>
            </a:r>
            <a:r>
              <a:rPr b="0" dirty="0" err="1"/>
              <a:t>na</a:t>
            </a:r>
            <a:r>
              <a:rPr b="0" dirty="0"/>
              <a:t> </a:t>
            </a:r>
            <a:r>
              <a:rPr b="0" dirty="0" err="1"/>
              <a:t>rede</a:t>
            </a:r>
            <a:r>
              <a:rPr b="0" dirty="0"/>
              <a:t>: </a:t>
            </a:r>
            <a:r>
              <a:rPr b="0" dirty="0" err="1"/>
              <a:t>endereço</a:t>
            </a:r>
            <a:r>
              <a:rPr b="0" dirty="0"/>
              <a:t> IP, </a:t>
            </a:r>
            <a:r>
              <a:rPr b="0" dirty="0" err="1"/>
              <a:t>máscara</a:t>
            </a:r>
            <a:r>
              <a:rPr b="0" dirty="0"/>
              <a:t>, gateway </a:t>
            </a:r>
            <a:r>
              <a:rPr b="0" dirty="0" err="1"/>
              <a:t>padrão</a:t>
            </a:r>
            <a:r>
              <a:rPr b="0" dirty="0"/>
              <a:t> e </a:t>
            </a:r>
            <a:r>
              <a:rPr b="0" dirty="0" err="1"/>
              <a:t>servidores</a:t>
            </a:r>
            <a:r>
              <a:rPr b="0" dirty="0"/>
              <a:t> DNS. </a:t>
            </a:r>
            <a:r>
              <a:rPr b="0" dirty="0" err="1"/>
              <a:t>Servidor</a:t>
            </a:r>
            <a:r>
              <a:rPr b="0" dirty="0"/>
              <a:t> opera </a:t>
            </a:r>
            <a:r>
              <a:rPr b="0" dirty="0" err="1"/>
              <a:t>na</a:t>
            </a:r>
            <a:r>
              <a:rPr b="0" dirty="0"/>
              <a:t> 67 e </a:t>
            </a:r>
            <a:r>
              <a:rPr b="0" dirty="0" err="1"/>
              <a:t>cliente</a:t>
            </a:r>
            <a:r>
              <a:rPr b="0" dirty="0"/>
              <a:t> </a:t>
            </a:r>
            <a:r>
              <a:rPr b="0" dirty="0" err="1"/>
              <a:t>escuta</a:t>
            </a:r>
            <a:r>
              <a:rPr b="0" dirty="0"/>
              <a:t> </a:t>
            </a:r>
            <a:r>
              <a:rPr b="0" dirty="0" err="1"/>
              <a:t>na</a:t>
            </a:r>
            <a:r>
              <a:rPr b="0" dirty="0"/>
              <a:t> 68.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rPr b="0" dirty="0"/>
              <a:t>• </a:t>
            </a:r>
            <a:r>
              <a:rPr b="0" dirty="0" err="1"/>
              <a:t>Mnemônico</a:t>
            </a:r>
            <a:r>
              <a:rPr b="0" dirty="0"/>
              <a:t> </a:t>
            </a:r>
            <a:r>
              <a:rPr b="0" dirty="0" err="1"/>
              <a:t>Campeão</a:t>
            </a:r>
            <a:r>
              <a:rPr b="0" dirty="0"/>
              <a:t>: DORA: </a:t>
            </a:r>
            <a:r>
              <a:rPr b="0" dirty="0" err="1"/>
              <a:t>Processo</a:t>
            </a:r>
            <a:r>
              <a:rPr b="0" dirty="0"/>
              <a:t> de </a:t>
            </a:r>
            <a:r>
              <a:rPr b="0" dirty="0" err="1"/>
              <a:t>alocação</a:t>
            </a:r>
            <a:r>
              <a:rPr b="0" dirty="0"/>
              <a:t> de 4 </a:t>
            </a:r>
            <a:r>
              <a:rPr b="0" dirty="0" err="1"/>
              <a:t>etapas</a:t>
            </a:r>
            <a:r>
              <a:rPr b="0" dirty="0"/>
              <a:t>: Discover (</a:t>
            </a:r>
            <a:r>
              <a:rPr b="0" dirty="0" err="1"/>
              <a:t>Cliente</a:t>
            </a:r>
            <a:r>
              <a:rPr b="0" dirty="0"/>
              <a:t>) → Offer (</a:t>
            </a:r>
            <a:r>
              <a:rPr b="0" dirty="0" err="1"/>
              <a:t>Servidor</a:t>
            </a:r>
            <a:r>
              <a:rPr b="0" dirty="0"/>
              <a:t>) → Request (</a:t>
            </a:r>
            <a:r>
              <a:rPr b="0" dirty="0" err="1"/>
              <a:t>Cliente</a:t>
            </a:r>
            <a:r>
              <a:rPr b="0" dirty="0"/>
              <a:t>) → Acknowledge (</a:t>
            </a:r>
            <a:r>
              <a:rPr b="0" dirty="0" err="1"/>
              <a:t>Servidor</a:t>
            </a:r>
            <a:r>
              <a:rPr b="0" dirty="0"/>
              <a:t>). </a:t>
            </a:r>
            <a:r>
              <a:rPr b="0" dirty="0" err="1"/>
              <a:t>Tema</a:t>
            </a:r>
            <a:r>
              <a:rPr b="0" dirty="0"/>
              <a:t> </a:t>
            </a:r>
            <a:r>
              <a:rPr b="0" dirty="0" err="1"/>
              <a:t>garantido</a:t>
            </a:r>
            <a:r>
              <a:rPr b="0" dirty="0"/>
              <a:t> </a:t>
            </a:r>
            <a:r>
              <a:rPr b="0" dirty="0" err="1"/>
              <a:t>em</a:t>
            </a:r>
            <a:r>
              <a:rPr b="0" dirty="0"/>
              <a:t> </a:t>
            </a:r>
            <a:r>
              <a:rPr b="0" dirty="0" err="1"/>
              <a:t>questões</a:t>
            </a:r>
            <a:r>
              <a:rPr b="0" dirty="0"/>
              <a:t>!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rPr b="0" dirty="0"/>
              <a:t>• SNMP (</a:t>
            </a:r>
            <a:r>
              <a:rPr b="0" dirty="0" err="1"/>
              <a:t>Portas</a:t>
            </a:r>
            <a:r>
              <a:rPr b="0" dirty="0"/>
              <a:t> 161 e 162 / UDP): </a:t>
            </a:r>
            <a:r>
              <a:rPr b="0" dirty="0" err="1"/>
              <a:t>Protocolo</a:t>
            </a:r>
            <a:r>
              <a:rPr b="0" dirty="0"/>
              <a:t> de </a:t>
            </a:r>
            <a:r>
              <a:rPr b="0" dirty="0" err="1"/>
              <a:t>gerência</a:t>
            </a:r>
            <a:r>
              <a:rPr b="0" dirty="0"/>
              <a:t> de </a:t>
            </a:r>
            <a:r>
              <a:rPr b="0" dirty="0" err="1"/>
              <a:t>redes</a:t>
            </a:r>
            <a:r>
              <a:rPr b="0" dirty="0"/>
              <a:t>. </a:t>
            </a:r>
            <a:r>
              <a:rPr b="0" dirty="0" err="1"/>
              <a:t>Utiliza</a:t>
            </a:r>
            <a:r>
              <a:rPr b="0" dirty="0"/>
              <a:t> porta 161 para </a:t>
            </a:r>
            <a:r>
              <a:rPr b="0" dirty="0" err="1"/>
              <a:t>consultas</a:t>
            </a:r>
            <a:r>
              <a:rPr b="0" dirty="0"/>
              <a:t> </a:t>
            </a:r>
            <a:r>
              <a:rPr b="0" dirty="0" err="1"/>
              <a:t>ao</a:t>
            </a:r>
            <a:r>
              <a:rPr b="0" dirty="0"/>
              <a:t> </a:t>
            </a:r>
            <a:r>
              <a:rPr b="0" dirty="0" err="1"/>
              <a:t>Agente</a:t>
            </a:r>
            <a:r>
              <a:rPr b="0" dirty="0"/>
              <a:t> e porta 162 para </a:t>
            </a:r>
            <a:r>
              <a:rPr b="0" dirty="0" err="1"/>
              <a:t>recebimento</a:t>
            </a:r>
            <a:r>
              <a:rPr b="0" dirty="0"/>
              <a:t> de 'Traps' (</a:t>
            </a:r>
            <a:r>
              <a:rPr b="0" dirty="0" err="1"/>
              <a:t>alertas</a:t>
            </a:r>
            <a:r>
              <a:rPr b="0" dirty="0"/>
              <a:t> </a:t>
            </a:r>
            <a:r>
              <a:rPr b="0" dirty="0" err="1"/>
              <a:t>automáticos</a:t>
            </a:r>
            <a:r>
              <a:rPr b="0" dirty="0"/>
              <a:t> de </a:t>
            </a:r>
            <a:r>
              <a:rPr b="0" dirty="0" err="1"/>
              <a:t>falhas</a:t>
            </a:r>
            <a:r>
              <a:rPr b="0" dirty="0"/>
              <a:t>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2286000"/>
            <a:ext cx="4389120" cy="4023360"/>
          </a:xfrm>
          <a:prstGeom prst="roundRect">
            <a:avLst/>
          </a:prstGeom>
          <a:solidFill>
            <a:srgbClr val="EFF6FF"/>
          </a:solidFill>
          <a:ln>
            <a:solidFill>
              <a:srgbClr val="0E7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tlCol="0" anchor="ctr"/>
          <a:lstStyle/>
          <a:p>
            <a:pPr algn="ctr">
              <a:spcAft>
                <a:spcPts val="800"/>
              </a:spcAft>
              <a:defRPr sz="1100" b="1">
                <a:solidFill>
                  <a:srgbClr val="0E74E0"/>
                </a:solidFill>
              </a:defRPr>
            </a:pPr>
            <a:r>
              <a:t>PROCESSO DORA DO DHCP (PORTAS 67/68 UDP)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2880360"/>
            <a:ext cx="4023360" cy="685800"/>
          </a:xfrm>
          <a:prstGeom prst="rect">
            <a:avLst/>
          </a:prstGeom>
          <a:solidFill>
            <a:srgbClr val="0E74E0"/>
          </a:solidFill>
          <a:ln>
            <a:solidFill>
              <a:srgbClr val="0E7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 - Discover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Cliente emite broadcast procurando servidor DHCP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3685032"/>
            <a:ext cx="4023360" cy="685800"/>
          </a:xfrm>
          <a:prstGeom prst="rect">
            <a:avLst/>
          </a:prstGeom>
          <a:solidFill>
            <a:srgbClr val="38BDF8"/>
          </a:solidFill>
          <a:ln>
            <a:solidFill>
              <a:srgbClr val="0E7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O - Offer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Servidor propõe um endereço IP e configurações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4489704"/>
            <a:ext cx="4023360" cy="685800"/>
          </a:xfrm>
          <a:prstGeom prst="rect">
            <a:avLst/>
          </a:prstGeom>
          <a:solidFill>
            <a:srgbClr val="BAE6FD"/>
          </a:solidFill>
          <a:ln>
            <a:solidFill>
              <a:srgbClr val="0E7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R - Request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Cliente formaliza pedido de aceitação do IP ofertado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5294376"/>
            <a:ext cx="4023360" cy="685800"/>
          </a:xfrm>
          <a:prstGeom prst="rect">
            <a:avLst/>
          </a:prstGeom>
          <a:solidFill>
            <a:srgbClr val="E0F2FE"/>
          </a:solidFill>
          <a:ln>
            <a:solidFill>
              <a:srgbClr val="0E7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A - Acknowledge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Servidor confirma concessão (lease) e ativa 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Desenvolvimento de Sistemas | Guia Definitivo de Redes e Protocolos  —  Slide 7 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57200"/>
            <a:ext cx="4114800" cy="32004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E74E0"/>
                </a:solidFill>
              </a:defRPr>
            </a:pPr>
            <a:r>
              <a:t>REDES DE COMPUTADORES • FOCO EM CONCURSOS E PROVAS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695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92C"/>
                </a:solidFill>
              </a:defRPr>
            </a:pPr>
            <a:r>
              <a:rPr dirty="0"/>
              <a:t>Slide 8: </a:t>
            </a:r>
            <a:r>
              <a:rPr dirty="0" err="1"/>
              <a:t>Resumo</a:t>
            </a:r>
            <a:r>
              <a:rPr dirty="0"/>
              <a:t> </a:t>
            </a:r>
            <a:r>
              <a:rPr dirty="0" err="1"/>
              <a:t>Estratégico</a:t>
            </a:r>
            <a:r>
              <a:rPr dirty="0"/>
              <a:t> — </a:t>
            </a:r>
            <a:r>
              <a:rPr dirty="0" err="1"/>
              <a:t>Tabela</a:t>
            </a:r>
            <a:r>
              <a:rPr dirty="0"/>
              <a:t> '</a:t>
            </a:r>
            <a:r>
              <a:rPr dirty="0" err="1"/>
              <a:t>Cai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Prova</a:t>
            </a:r>
            <a:r>
              <a:rPr dirty="0"/>
              <a:t>'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0728655" cy="502920"/>
          </a:xfrm>
          <a:prstGeom prst="rect">
            <a:avLst/>
          </a:prstGeom>
          <a:solidFill>
            <a:srgbClr val="EEF6FF"/>
          </a:solidFill>
          <a:ln w="19050">
            <a:solidFill>
              <a:srgbClr val="0E7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E74E0"/>
                </a:solidFill>
              </a:defRPr>
            </a:pPr>
            <a:r>
              <a:t>💡 MENSAGEM PRINCIPAL: O domínio rápido da relação protocolo-porta-transporte economiza tempo e garante pontos decisivos em provas objetivas.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240280"/>
          <a:ext cx="1072865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076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68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PROTOCOLO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FINALIDADE PRINCIPAL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PORTA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TRANSPORTE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PEGADINHA FREQUENTE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E74E0"/>
                          </a:solidFill>
                        </a:defRPr>
                      </a:pPr>
                      <a:r>
                        <a:t>SSH / SFTP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rPr dirty="0" err="1"/>
                        <a:t>Acesso</a:t>
                      </a:r>
                      <a:r>
                        <a:rPr dirty="0"/>
                        <a:t> e </a:t>
                      </a:r>
                      <a:r>
                        <a:rPr dirty="0" err="1"/>
                        <a:t>cópia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segura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arquivos</a:t>
                      </a:r>
                      <a:endParaRPr dirty="0"/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TCP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SFTP usa a mesma porta 22 do SSH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E74E0"/>
                          </a:solidFill>
                        </a:defRPr>
                      </a:pPr>
                      <a:r>
                        <a:t>DNS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rPr dirty="0" err="1"/>
                        <a:t>Resolução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Nomes</a:t>
                      </a:r>
                      <a:r>
                        <a:rPr dirty="0"/>
                        <a:t> para 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UDP / TCP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Consultas usam UDP; Zonas usam TCP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E74E0"/>
                          </a:solidFill>
                        </a:defRPr>
                      </a:pPr>
                      <a:r>
                        <a:t>DHCP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rPr dirty="0" err="1"/>
                        <a:t>Distribuição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dinâmica</a:t>
                      </a:r>
                      <a:r>
                        <a:rPr dirty="0"/>
                        <a:t> de IP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67 / 68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rPr dirty="0"/>
                        <a:t>UDP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Processo de 4 passos DORA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E74E0"/>
                          </a:solidFill>
                        </a:defRPr>
                      </a:pPr>
                      <a:r>
                        <a:t>HTTP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Navegação web sem criptografia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TCP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rPr dirty="0" err="1"/>
                        <a:t>Trafega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cabeçalhos</a:t>
                      </a:r>
                      <a:r>
                        <a:rPr dirty="0"/>
                        <a:t> e </a:t>
                      </a:r>
                      <a:r>
                        <a:rPr dirty="0" err="1"/>
                        <a:t>corpo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em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texto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puro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E74E0"/>
                          </a:solidFill>
                        </a:defRPr>
                      </a:pPr>
                      <a:r>
                        <a:t>HTTPS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rPr dirty="0" err="1"/>
                        <a:t>Navegação</a:t>
                      </a:r>
                      <a:r>
                        <a:rPr dirty="0"/>
                        <a:t> web </a:t>
                      </a:r>
                      <a:r>
                        <a:rPr dirty="0" err="1"/>
                        <a:t>segura</a:t>
                      </a:r>
                      <a:r>
                        <a:rPr dirty="0"/>
                        <a:t> com TLS/SSL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443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rPr dirty="0"/>
                        <a:t>TCP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rPr dirty="0" err="1"/>
                        <a:t>Não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altera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métodos</a:t>
                      </a:r>
                      <a:r>
                        <a:rPr dirty="0"/>
                        <a:t> HTTP, </a:t>
                      </a:r>
                      <a:r>
                        <a:rPr dirty="0" err="1"/>
                        <a:t>apenas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criptografa</a:t>
                      </a:r>
                      <a:endParaRPr dirty="0"/>
                    </a:p>
                  </a:txBody>
                  <a:tcPr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E74E0"/>
                          </a:solidFill>
                        </a:defRPr>
                      </a:pPr>
                      <a:r>
                        <a:t>SMTP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rPr dirty="0" err="1"/>
                        <a:t>Envio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mensagens</a:t>
                      </a:r>
                      <a:r>
                        <a:rPr dirty="0"/>
                        <a:t> de e-mail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25 / 587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TCP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Porta 587 é submissão moderna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E74E0"/>
                          </a:solidFill>
                        </a:defRPr>
                      </a:pPr>
                      <a:r>
                        <a:t>POP3 / IMAP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Recepção e sincronismo de e-mails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110 / 143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TCP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POP baixa e remove; IMAP sincroniza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E74E0"/>
                          </a:solidFill>
                        </a:defRPr>
                      </a:pPr>
                      <a:r>
                        <a:t>SNMP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Gerência e telemetria de redes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161 / 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UDP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rPr dirty="0"/>
                        <a:t>161 é polling; 162 </a:t>
                      </a:r>
                      <a:r>
                        <a:rPr dirty="0" err="1"/>
                        <a:t>recebe</a:t>
                      </a:r>
                      <a:r>
                        <a:rPr dirty="0"/>
                        <a:t> Traps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Desenvolvimento de Sistemas | Guia Definitivo de Redes e Protocolos  —  Slide 8 de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1721</Words>
  <Application>Microsoft Office PowerPoint</Application>
  <PresentationFormat>Widescreen</PresentationFormat>
  <Paragraphs>161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Phelipe Curty</cp:lastModifiedBy>
  <cp:revision>5</cp:revision>
  <dcterms:created xsi:type="dcterms:W3CDTF">2013-01-27T09:14:16Z</dcterms:created>
  <dcterms:modified xsi:type="dcterms:W3CDTF">2026-09-25T13:06:41Z</dcterms:modified>
  <cp:category/>
</cp:coreProperties>
</file>