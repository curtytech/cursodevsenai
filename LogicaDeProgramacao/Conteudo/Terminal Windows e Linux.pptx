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158" y="2217390"/>
            <a:ext cx="2481681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836515"/>
            <a:ext cx="9001125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 dirty="0">
                <a:solidFill>
                  <a:srgbClr val="F8FAFC"/>
                </a:solidFill>
                <a:latin typeface="Plus Jakarta Sans"/>
              </a:rPr>
              <a:t>Terminal Windows &amp;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640335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Dominando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a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linha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comando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: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navegação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arquivos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e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comandos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essenciais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para a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rotina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do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desenvolvedor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90536" y="2333625"/>
            <a:ext cx="7410926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O que é a Linha de Comando?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609975"/>
            <a:ext cx="7143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CLI (Command Line Interface) é a ferramenta de produtividade máxima do desenvolvedor, permitindo interagir diretamente com o sistema operacional sem depender de interfaces gráficas.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85157"/>
            <a:ext cx="5324475" cy="2202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85157"/>
            <a:ext cx="5324475" cy="2202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3037582"/>
            <a:ext cx="4850606" cy="2857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lus Jakarta Sans"/>
              </a:rPr>
              <a:t> Windows (CMD / PowerShell)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3437632"/>
            <a:ext cx="46196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O Prompt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clássico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(CMD)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usa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sintaxe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antiga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baseada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no MS-DOS. O </a:t>
            </a:r>
            <a:r>
              <a:rPr sz="1350" b="1" i="0" u="none" dirty="0">
                <a:solidFill>
                  <a:srgbClr val="94A3B8"/>
                </a:solidFill>
                <a:latin typeface="Plus Jakarta Sans"/>
              </a:rPr>
              <a:t>PowerShell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modernizou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o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ambiente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trazendo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suporte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a scripts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avançados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e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suporte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nativo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a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apelidos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(aliases)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idênticos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ao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Linux.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3037582"/>
            <a:ext cx="4850606" cy="2857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38BDF8"/>
                </a:solidFill>
                <a:latin typeface="Plus Jakarta Sans"/>
              </a:rPr>
              <a:t> Linux / macOS (Bash / </a:t>
            </a:r>
            <a:r>
              <a:rPr sz="1800" b="1" i="0" u="none" dirty="0" err="1">
                <a:solidFill>
                  <a:srgbClr val="38BDF8"/>
                </a:solidFill>
                <a:latin typeface="Plus Jakarta Sans"/>
              </a:rPr>
              <a:t>Zsh</a:t>
            </a:r>
            <a:r>
              <a:rPr sz="1800" b="1" i="0" u="none" dirty="0">
                <a:solidFill>
                  <a:srgbClr val="38BDF8"/>
                </a:solidFill>
                <a:latin typeface="Plus Jakarta San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437632"/>
            <a:ext cx="46196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O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padrão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da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indústria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de software e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servidores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.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Utiliza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a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filosofia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Unix: ferramentas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pequenas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e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focadas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que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trabalham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juntas.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Quase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todas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as ferramentas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modernas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desenvolvimento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são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construídas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pensando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nele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307568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3075682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Windows Prompt vs Linux Shell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818507"/>
            <a:ext cx="909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Plus Jakarta Sans"/>
              </a:rPr>
              <a:t>Velocidade e Eficiência: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Execute tarefas complexas em segundos sem precisar clicar em múltiplos menus.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302347"/>
            <a:ext cx="909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Plus Jakarta Sans"/>
              </a:rPr>
              <a:t>Automação de Tarefas: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Crie scripts reutilizáveis para compilação, testes e deploys repetitivos.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786187"/>
            <a:ext cx="909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Plus Jakarta Sans"/>
              </a:rPr>
              <a:t>Gerenciamento de Servidores: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Servidores em nuvem (AWS, Docker, VPS) raramente possuem interface gráfica.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270027"/>
            <a:ext cx="909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Plus Jakarta Sans"/>
              </a:rPr>
              <a:t>Ferramentas de Desenvolvimento: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Git, Node.js, Python e gerenciadores de pacotes dependem do terminal.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842319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326159"/>
            <a:ext cx="26670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10000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293840"/>
            <a:ext cx="1809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Por que Dominar o Terminal?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15639" y="2486025"/>
            <a:ext cx="576072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Navegação no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62375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Aprenda a se movimentar entre diretórios com agilidade, entendendo onde você está e para onde deseja ir dentro do sistema de arquivos.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944753"/>
              </p:ext>
            </p:extLst>
          </p:nvPr>
        </p:nvGraphicFramePr>
        <p:xfrm>
          <a:off x="581025" y="2015579"/>
          <a:ext cx="11029948" cy="354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3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2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Linux / macOS (Bash)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Windows (CMD)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Descrição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Ver pasta atual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E2E8F0"/>
                          </a:solidFill>
                          <a:latin typeface="Plus Jakarta Sans"/>
                        </a:rPr>
                        <a:t>pwd</a:t>
                      </a:r>
                      <a:endParaRPr sz="1350" b="0" i="0" u="none" dirty="0">
                        <a:solidFill>
                          <a:srgbClr val="E2E8F0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cd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Exibe o caminho absoluto do diretório ativo.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Listar arquivos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ls (ou ls -la)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E2E8F0"/>
                          </a:solidFill>
                          <a:latin typeface="Plus Jakarta Sans"/>
                        </a:rPr>
                        <a:t>dir</a:t>
                      </a:r>
                      <a:endParaRPr sz="1350" b="0" i="0" u="none" dirty="0">
                        <a:solidFill>
                          <a:srgbClr val="E2E8F0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Mostra arquivos e subpastas no local.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Entrar em pasta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cd nome_pasta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cd nome_pasta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Navega para dentro da pasta especificada.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Voltar uma pasta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cd 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cd 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Sobe um nível na árvore de diretórios.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06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Ir para Home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cd ~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cd %userprofile%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E2E8F0"/>
                          </a:solidFill>
                          <a:latin typeface="Plus Jakarta Sans"/>
                        </a:rPr>
                        <a:t>Retorna</a:t>
                      </a:r>
                      <a:r>
                        <a:rPr sz="135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E2E8F0"/>
                          </a:solidFill>
                          <a:latin typeface="Plus Jakarta Sans"/>
                        </a:rPr>
                        <a:t>diretamente</a:t>
                      </a:r>
                      <a:r>
                        <a:rPr sz="135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 para a pasta do </a:t>
                      </a:r>
                      <a:r>
                        <a:rPr sz="1350" b="0" i="0" u="none" dirty="0" err="1">
                          <a:solidFill>
                            <a:srgbClr val="E2E8F0"/>
                          </a:solidFill>
                          <a:latin typeface="Plus Jakarta Sans"/>
                        </a:rPr>
                        <a:t>usuário</a:t>
                      </a:r>
                      <a:r>
                        <a:rPr sz="1350" b="0" i="0" u="none" dirty="0">
                          <a:solidFill>
                            <a:srgbClr val="E2E8F0"/>
                          </a:solidFill>
                          <a:latin typeface="Plus Jakarta Sans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585144"/>
            <a:ext cx="195069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31715" y="2585144"/>
            <a:ext cx="2393602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25317" y="2585144"/>
            <a:ext cx="22986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23968" y="2585144"/>
            <a:ext cx="4387006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188047"/>
            <a:ext cx="1950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31715" y="3188047"/>
            <a:ext cx="23936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25317" y="3188047"/>
            <a:ext cx="22986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23968" y="3188047"/>
            <a:ext cx="4387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776662"/>
            <a:ext cx="1950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31715" y="3776662"/>
            <a:ext cx="23936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25317" y="3776662"/>
            <a:ext cx="22986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23968" y="3776662"/>
            <a:ext cx="4387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365277"/>
            <a:ext cx="1950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31715" y="4365277"/>
            <a:ext cx="23936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25317" y="4365277"/>
            <a:ext cx="22986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23968" y="4365277"/>
            <a:ext cx="4387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4953892"/>
            <a:ext cx="1950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31715" y="4953892"/>
            <a:ext cx="23936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25317" y="4953892"/>
            <a:ext cx="22986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23968" y="4953892"/>
            <a:ext cx="4387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1025" y="5542508"/>
            <a:ext cx="1950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31715" y="5542508"/>
            <a:ext cx="23936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25317" y="5542508"/>
            <a:ext cx="22986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23968" y="5542508"/>
            <a:ext cx="438700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Comandos de Navegação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71687"/>
            <a:ext cx="5324475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71687"/>
            <a:ext cx="53244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Criar, copiar e mover arquivos diretamente no terminal é fundamental para organizar seus projetos de código: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81212"/>
            <a:ext cx="5305425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9650" y="2772667"/>
            <a:ext cx="4895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F8FAFC"/>
                </a:solidFill>
                <a:latin typeface="Plus Jakarta Sans"/>
              </a:rPr>
              <a:t>Criar</a:t>
            </a:r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 Pasta: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mkdir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meu_projeto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em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ambos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os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sistemas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3256508"/>
            <a:ext cx="489585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F8FAFC"/>
                </a:solidFill>
                <a:latin typeface="Plus Jakarta Sans"/>
              </a:rPr>
              <a:t>Criar</a:t>
            </a:r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Plus Jakarta Sans"/>
              </a:rPr>
              <a:t>Arquivo</a:t>
            </a:r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: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Linux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usa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touch index.js. </a:t>
            </a:r>
            <a:endParaRPr lang="pt-BR" sz="1350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No Windows CMD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usa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-se type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nul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&gt; index.js.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014638"/>
            <a:ext cx="48958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F8FAFC"/>
                </a:solidFill>
                <a:latin typeface="Plus Jakarta Sans"/>
              </a:rPr>
              <a:t>Copiar</a:t>
            </a:r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: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Linux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usa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cp arq.txt copia.txt. Windows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usa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copy arq.txt copia.txt.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4772769"/>
            <a:ext cx="4895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Mover/</a:t>
            </a:r>
            <a:r>
              <a:rPr sz="1350" b="1" i="0" u="none" dirty="0" err="1">
                <a:solidFill>
                  <a:srgbClr val="F8FAFC"/>
                </a:solidFill>
                <a:latin typeface="Plus Jakarta Sans"/>
              </a:rPr>
              <a:t>Renomear</a:t>
            </a:r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: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Linux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usa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mv e Windows </a:t>
            </a:r>
            <a:r>
              <a:rPr sz="1350" b="0" i="0" u="none" dirty="0" err="1">
                <a:solidFill>
                  <a:srgbClr val="CBD5E1"/>
                </a:solidFill>
                <a:latin typeface="Plus Jakarta Sans"/>
              </a:rPr>
              <a:t>usa</a:t>
            </a:r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 move.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796480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280320"/>
            <a:ext cx="23812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038451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796581"/>
            <a:ext cx="20955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Manipulação de Arquivos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1976586"/>
            <a:ext cx="53244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EF4444"/>
                </a:solidFill>
                <a:latin typeface="Fira Code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214836"/>
            <a:ext cx="53244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Plus Jakarta Sans"/>
              </a:rPr>
              <a:t>CUIDADO: Sem Lixeira!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976586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1F5F9"/>
                </a:solidFill>
                <a:latin typeface="Plus Jakarta Sans"/>
              </a:rPr>
              <a:t>Comandos de Remoção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376636"/>
            <a:ext cx="53244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Diferente da interface gráfica, arquivos apagados pelo terminal </a:t>
            </a:r>
            <a:r>
              <a:rPr sz="1350" b="1" i="0" u="none">
                <a:solidFill>
                  <a:srgbClr val="94A3B8"/>
                </a:solidFill>
                <a:latin typeface="Plus Jakarta Sans"/>
              </a:rPr>
              <a:t>não vão para a Lixeira</a:t>
            </a:r>
            <a:r>
              <a:rPr sz="1350" b="0" i="0" u="none">
                <a:solidFill>
                  <a:srgbClr val="94A3B8"/>
                </a:solidFill>
                <a:latin typeface="Plus Jakarta Sans"/>
              </a:rPr>
              <a:t>. A remoção é permanente.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068091"/>
            <a:ext cx="5324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Plus Jakarta Sans"/>
              </a:rPr>
              <a:t>No Linux / macOS: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437632"/>
            <a:ext cx="53244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• Arquivo: rm arquivo.txt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Plus Jakarta Sans"/>
              </a:rPr>
              <a:t> • Pasta vazia: rmdir pasta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Plus Jakarta Sans"/>
              </a:rPr>
              <a:t> • Pasta com conteúdo: rm -rf pasta </a:t>
            </a:r>
            <a:r>
              <a:rPr sz="1350" b="0" i="1" u="none">
                <a:solidFill>
                  <a:srgbClr val="94A3B8"/>
                </a:solidFill>
                <a:latin typeface="Plus Jakarta Sans"/>
              </a:rPr>
              <a:t>(Atenção!)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403377"/>
            <a:ext cx="53244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Plus Jakarta Sans"/>
              </a:rPr>
              <a:t>No Windows (CMD):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772917"/>
            <a:ext cx="53244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• Arquivo: del arquivo.txt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Plus Jakarta Sans"/>
              </a:rPr>
              <a:t> • Pasta vazia: rd pasta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Plus Jakarta Sans"/>
              </a:rPr>
              <a:t> • Pasta com conteúdo: rd /s /q pasta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Deletando Arquivos e Pastas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04169"/>
            <a:ext cx="3486150" cy="27640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404169"/>
            <a:ext cx="3486150" cy="27640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404169"/>
            <a:ext cx="3486150" cy="3515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375719"/>
            <a:ext cx="30403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1F5F9"/>
                </a:solidFill>
                <a:latin typeface="Plus Jakarta Sans"/>
              </a:rPr>
              <a:t>Ver Conteúdo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75769"/>
            <a:ext cx="28956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No Linux use cat arquivo.txt (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ou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type arquivo.txt no Windows) para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exibir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todo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o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texto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do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arquivo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na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tela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sem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abri-lo.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375719"/>
            <a:ext cx="30403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1F5F9"/>
                </a:solidFill>
                <a:latin typeface="Plus Jakarta Sans"/>
              </a:rPr>
              <a:t>Abrir no 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775769"/>
            <a:ext cx="28956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O comando code . abre a pasta atual diretamente no Visual Studio Code. É o comando mais usado no dia a dia do dev.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375719"/>
            <a:ext cx="30403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1F5F9"/>
                </a:solidFill>
                <a:latin typeface="Plus Jakarta Sans"/>
              </a:rPr>
              <a:t>Editores de 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775769"/>
            <a:ext cx="2895600" cy="1667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No Linux, use nano arquivo.txt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ou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vim arquivo.txt para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editar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arquivos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configuração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direto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no terminal do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servidor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.</a:t>
            </a:r>
            <a:r>
              <a:rPr lang="pt-BR"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</a:p>
          <a:p>
            <a:pPr algn="l">
              <a:lnSpc>
                <a:spcPts val="2160"/>
              </a:lnSpc>
            </a:pPr>
            <a:r>
              <a:rPr lang="pt-BR" sz="1350" dirty="0">
                <a:solidFill>
                  <a:srgbClr val="94A3B8"/>
                </a:solidFill>
                <a:latin typeface="Plus Jakarta Sans"/>
              </a:rPr>
              <a:t>Para Editar arquivos no Windows o comando é: </a:t>
            </a:r>
            <a:r>
              <a:rPr lang="pt-BR" sz="1350" dirty="0" err="1">
                <a:solidFill>
                  <a:srgbClr val="94A3B8"/>
                </a:solidFill>
                <a:latin typeface="Plus Jakarta Sans"/>
              </a:rPr>
              <a:t>edit</a:t>
            </a:r>
            <a:r>
              <a:rPr lang="pt-BR" sz="1350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lang="pt-BR" sz="1350" dirty="0" err="1">
                <a:solidFill>
                  <a:srgbClr val="94A3B8"/>
                </a:solidFill>
                <a:latin typeface="Plus Jakarta Sans"/>
              </a:rPr>
              <a:t>nomedoarquivo</a:t>
            </a:r>
            <a:endParaRPr sz="1350" b="0" i="0" u="none" dirty="0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766119"/>
            <a:ext cx="42862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766119"/>
            <a:ext cx="4762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766119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Visualização e Edição Rápida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87016"/>
            <a:ext cx="3486150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87016"/>
            <a:ext cx="3486150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87016"/>
            <a:ext cx="3486150" cy="209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871" y="4334916"/>
            <a:ext cx="366045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1F5F9"/>
                </a:solidFill>
                <a:latin typeface="Plus Jakarta Sans"/>
              </a:rPr>
              <a:t>Tecla TAB (Autocompletar)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734966"/>
            <a:ext cx="3486150" cy="740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Digite as primeiras letras de um arquivo ou pasta e aperte Tab para autocompletar o nome instantaneamente.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5771" y="4334916"/>
            <a:ext cx="366045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1F5F9"/>
                </a:solidFill>
                <a:latin typeface="Plus Jakarta Sans"/>
              </a:rPr>
              <a:t>Setas do Teclado &amp;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2925" y="4734966"/>
            <a:ext cx="3486150" cy="740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Use a seta para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Cima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↑ para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navegar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pelos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últimos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comandos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digitados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sem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precisar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reescrever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671" y="4334916"/>
            <a:ext cx="366045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1F5F9"/>
                </a:solidFill>
                <a:latin typeface="Plus Jakarta Sans"/>
              </a:rPr>
              <a:t>Limpar Tela &amp; Interromper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4825" y="4734966"/>
            <a:ext cx="3486150" cy="750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clear (Linux)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ou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cls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(Windows)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limpa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a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tela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. Use Ctrl + C para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cancelar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qualquer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comando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em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execução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2096541"/>
            <a:ext cx="3467100" cy="2076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2450" y="2096541"/>
            <a:ext cx="3467100" cy="2076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4350" y="2096541"/>
            <a:ext cx="3467100" cy="2076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Macetes Práticos de Produtividade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11029950" cy="5172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492972"/>
            <a:ext cx="110299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1" u="none">
                <a:solidFill>
                  <a:srgbClr val="94A3B8"/>
                </a:solidFill>
                <a:latin typeface="Plus Jakarta Sans"/>
              </a:rPr>
              <a:t>A linha de comando oferece um ganho exponencial de produtividade ao lidar com tarefas em lote e gerenciamento de arquivos de projeto.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Eficiência: Terminal vs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431702"/>
            <a:ext cx="11581447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Plus Jakarta Sans"/>
              </a:rP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450877"/>
            <a:ext cx="11029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Pratique diariamente os comandos no seu terminal para fixar o aprendizado!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197548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Fira Code"/>
              </a:rPr>
              <a:t>Próximos tópicos recomendados: Git CLI (git status, commit, push) &amp; Gerenciadores de Pacotes (npm, pip).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3887" y="2221408"/>
            <a:ext cx="109442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3887" y="3006179"/>
            <a:ext cx="109442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3887" y="3790950"/>
            <a:ext cx="109442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3887" y="2996654"/>
            <a:ext cx="10944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3887" y="2996654"/>
            <a:ext cx="10944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887" y="3781425"/>
            <a:ext cx="10944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887" y="3781425"/>
            <a:ext cx="10944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887" y="4566195"/>
            <a:ext cx="10944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887" y="4566195"/>
            <a:ext cx="109442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" y="237083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19262" y="2364283"/>
            <a:ext cx="984885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94A3B8"/>
                </a:solidFill>
                <a:latin typeface="Plus Jakarta Sans"/>
              </a:rPr>
              <a:t>https://www.joshwcomeau.com/_next/image/?url=%2Fimages%2Fterminal-for-js-devs%2Ft-rm-r.png&amp;w=3840&amp;q=75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262" y="2609998"/>
            <a:ext cx="98488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www.joshwcomeau.com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" y="315560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19262" y="3149054"/>
            <a:ext cx="984885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https://i.redd.it/648y3576mbt81.jpg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262" y="3394769"/>
            <a:ext cx="98488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www.reddit.com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" y="39403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19262" y="3933825"/>
            <a:ext cx="984885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94A3B8"/>
                </a:solidFill>
                <a:latin typeface="Plus Jakarta Sans"/>
              </a:rPr>
              <a:t>https://static0.howtogeekimages.com/wordpress/wp-content/uploads/wm/2026/09/linux-ubuntu-20_04-lts-terminal-screen-001.jpg?w=1600&amp;h=900&amp;fit=crop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262" y="4179540"/>
            <a:ext cx="98488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www.howtogeek.com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" y="472514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262" y="4718595"/>
            <a:ext cx="984885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https://code.visualstudio.com/assets/docs/terminal/basics/terminal-editor-grid.png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9262" y="4964310"/>
            <a:ext cx="98488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code.visualstudio.com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899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Fira Code</vt:lpstr>
      <vt:lpstr>Plus Jakarta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Phelipe</cp:lastModifiedBy>
  <cp:revision>5</cp:revision>
  <dcterms:created xsi:type="dcterms:W3CDTF">2013-01-27T09:14:16Z</dcterms:created>
  <dcterms:modified xsi:type="dcterms:W3CDTF">2026-09-14T12:51:19Z</dcterms:modified>
  <cp:category/>
</cp:coreProperties>
</file>